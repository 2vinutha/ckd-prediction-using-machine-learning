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5"/>
  </p:notesMasterIdLst>
  <p:sldIdLst>
    <p:sldId id="256" r:id="rId2"/>
    <p:sldId id="257" r:id="rId3"/>
    <p:sldId id="269" r:id="rId4"/>
    <p:sldId id="279" r:id="rId5"/>
    <p:sldId id="276" r:id="rId6"/>
    <p:sldId id="280" r:id="rId7"/>
    <p:sldId id="287" r:id="rId8"/>
    <p:sldId id="283" r:id="rId9"/>
    <p:sldId id="284" r:id="rId10"/>
    <p:sldId id="278" r:id="rId11"/>
    <p:sldId id="273" r:id="rId12"/>
    <p:sldId id="268" r:id="rId13"/>
    <p:sldId id="290" r:id="rId14"/>
    <p:sldId id="291" r:id="rId15"/>
    <p:sldId id="285" r:id="rId16"/>
    <p:sldId id="286" r:id="rId17"/>
    <p:sldId id="272" r:id="rId18"/>
    <p:sldId id="293" r:id="rId19"/>
    <p:sldId id="294" r:id="rId20"/>
    <p:sldId id="270" r:id="rId21"/>
    <p:sldId id="265" r:id="rId22"/>
    <p:sldId id="275" r:id="rId23"/>
    <p:sldId id="26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2" d="100"/>
          <a:sy n="62" d="100"/>
        </p:scale>
        <p:origin x="80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C2CB4B31-5E3B-3183-ACB7-A6A4A1F27BA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C6D3B180-58A4-9A2D-D347-A87163D0BC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BC854E89-10FD-FF76-31C6-33294E6878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723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1A1582D9-03E4-70F6-22B7-845CB1DC6613}"/>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2FEED1D2-1C56-7437-9D09-82CA5FD658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278B2B5D-2715-9D0D-EA5D-E5BBFF4D66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2267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A394B8F-2017-4FB9-4499-35DA38846D2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D5CFD2DA-2D9B-5953-F737-C78AAF6D59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7E59D84-1678-BEE5-3E19-8811EF799C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187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EAF2352-AC21-5B13-7EE1-F5808505CF0C}"/>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BC9795F-6872-6718-1829-7E35441BA4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0FE13FD2-9677-6437-6A38-8B6FC216B2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81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FEB6A838-F61F-4E21-160B-7FDEB91448F6}"/>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9D628CE4-790A-6BFA-7939-CCE173865C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FC3BED8C-D68B-5A6D-A588-B9BBC507D9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8763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102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6161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4A4F1540-FE72-CA8E-230D-4ABE9640110F}"/>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6BAB4506-446A-B005-6203-F4783D465A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FA250B1-7F34-1C6D-B5EF-572F93C511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8480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8C58756-D183-91C2-A49B-779F17B8C5E1}"/>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EFE76311-A2B7-D795-1B02-4B7A5645A5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BB2CFA8-F5FE-84C8-A45E-D6841648B1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363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8304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3380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812241"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A PREDICTIVE ANALYTICS APPROACH FOR CHRONIC KIDNEY DISEASE  DETECTION USING MACHINE LEARNING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a:t>
            </a:r>
            <a:r>
              <a:rPr lang="en-IN" sz="1800" dirty="0">
                <a:latin typeface="Cambria" panose="02040503050406030204" pitchFamily="18" charset="0"/>
                <a:ea typeface="Cambria" panose="02040503050406030204" pitchFamily="18" charset="0"/>
              </a:rPr>
              <a:t>CSE_08</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94713" y="2513340"/>
            <a:ext cx="5299781"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lgn="ctr">
              <a:spcBef>
                <a:spcPts val="400"/>
              </a:spcBef>
              <a:buClr>
                <a:srgbClr val="17365D"/>
              </a:buClr>
              <a:buSzPts val="2000"/>
            </a:pPr>
            <a:r>
              <a:rPr lang="en-IN" sz="2000" b="1" dirty="0"/>
              <a:t>Ms. SHREELATHA PK</a:t>
            </a:r>
            <a:endParaRPr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11684626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t>20221CSE0730</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VINUTHA</a:t>
                      </a:r>
                      <a:r>
                        <a:rPr lang="en-IN" sz="1800" b="1" u="none" strike="noStrike" cap="none" baseline="0" dirty="0"/>
                        <a:t>  AH</a:t>
                      </a:r>
                      <a:endParaRPr lang="en-IN"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t>20231CSE3039</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SHIVANANDA</a:t>
                      </a:r>
                      <a:r>
                        <a:rPr lang="en-IN" sz="1800" b="1" u="none" strike="noStrike" cap="none" baseline="0" dirty="0"/>
                        <a:t> SHETTY AP</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t>20231CSE3088</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t>VEERESH V</a:t>
                      </a:r>
                      <a:r>
                        <a:rPr lang="en-IN" sz="1800" b="1" u="none" strike="noStrike" cap="none" baseline="0" dirty="0"/>
                        <a:t> MANVACHAR</a:t>
                      </a:r>
                      <a:endParaRPr sz="1800" b="1"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Final Review</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0274" y="4544174"/>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800" b="1"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t>Dr. Jayavadivel Ravi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55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 </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Existing methods and drawbacks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Proposed methods and feasibility</a:t>
            </a:r>
          </a:p>
          <a:p>
            <a:pPr marL="495300" lvl="0" indent="-342900" algn="just">
              <a:lnSpc>
                <a:spcPct val="200000"/>
              </a:lnSpc>
              <a:spcBef>
                <a:spcPts val="0"/>
              </a:spcBef>
              <a:buFont typeface="Arial" panose="020B0604020202020204" pitchFamily="34" charset="0"/>
              <a:buChar char="•"/>
            </a:pPr>
            <a:r>
              <a:rPr lang="en-US" sz="2200" dirty="0">
                <a:latin typeface="Cambria" panose="02040503050406030204" pitchFamily="18" charset="0"/>
                <a:ea typeface="Cambria" panose="02040503050406030204" pitchFamily="18" charset="0"/>
              </a:rPr>
              <a:t>Architecture Diagram</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Module Description</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Software Requirements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Timeline(Gantt Chart)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40509" y="283874"/>
            <a:ext cx="10704946"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Number:PSCS_399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54182" y="1006764"/>
            <a:ext cx="11185236" cy="5467927"/>
          </a:xfrm>
          <a:prstGeom prst="rect">
            <a:avLst/>
          </a:prstGeom>
          <a:noFill/>
          <a:ln>
            <a:noFill/>
          </a:ln>
        </p:spPr>
        <p:txBody>
          <a:bodyPr spcFirstLastPara="1" wrap="square" lIns="91425" tIns="45700" rIns="91425" bIns="45700" anchor="t" anchorCtr="0">
            <a:normAutofit fontScale="40000" lnSpcReduction="20000"/>
          </a:bodyPr>
          <a:lstStyle/>
          <a:p>
            <a:pPr marL="342900" lvl="0" indent="-190500" algn="just">
              <a:spcBef>
                <a:spcPts val="0"/>
              </a:spcBef>
              <a:buNone/>
            </a:pPr>
            <a:endParaRPr lang="en-US" sz="96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9600" dirty="0">
                <a:latin typeface="Cambria" panose="02040503050406030204" pitchFamily="18" charset="0"/>
                <a:ea typeface="Cambria" panose="02040503050406030204" pitchFamily="18" charset="0"/>
              </a:rPr>
              <a:t>Category :Software</a:t>
            </a:r>
          </a:p>
          <a:p>
            <a:pPr marL="342900" lvl="0" indent="-190500" algn="just">
              <a:lnSpc>
                <a:spcPct val="200000"/>
              </a:lnSpc>
              <a:spcBef>
                <a:spcPts val="0"/>
              </a:spcBef>
              <a:buNone/>
            </a:pPr>
            <a:r>
              <a:rPr lang="en-US" sz="9600" b="1" dirty="0">
                <a:latin typeface="Cambria" panose="02040503050406030204" pitchFamily="18" charset="0"/>
                <a:ea typeface="Cambria" panose="02040503050406030204" pitchFamily="18" charset="0"/>
              </a:rPr>
              <a:t>Problem Description:</a:t>
            </a:r>
          </a:p>
          <a:p>
            <a:pPr marL="342900" indent="-190500" algn="just">
              <a:lnSpc>
                <a:spcPct val="120000"/>
              </a:lnSpc>
              <a:spcBef>
                <a:spcPts val="0"/>
              </a:spcBef>
              <a:buNone/>
            </a:pPr>
            <a:r>
              <a:rPr lang="en-IN" sz="9600" dirty="0">
                <a:latin typeface="Cambria" panose="02040503050406030204" pitchFamily="18" charset="0"/>
                <a:ea typeface="Cambria" panose="02040503050406030204" pitchFamily="18" charset="0"/>
              </a:rPr>
              <a:t>   </a:t>
            </a:r>
            <a:r>
              <a:rPr lang="en-US" sz="6000" dirty="0">
                <a:latin typeface="Cambria" panose="02040503050406030204" pitchFamily="18" charset="0"/>
                <a:ea typeface="Cambria" panose="02040503050406030204" pitchFamily="18" charset="0"/>
              </a:rPr>
              <a:t>Chronic Kidney Disease (CKD) often remains undetected until advanced stages, leading to severe complications. Traditional diagnosis is time-consuming and error-prone. There is a need for accurate, automated prediction using machine learning to support early detection and timely treatment.</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E180E07-B26A-DD8D-079E-A91B81FA048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4782F5B-BF96-8CD2-BFBA-946CFFBEB17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Abstract</a:t>
            </a:r>
          </a:p>
        </p:txBody>
      </p:sp>
      <p:sp>
        <p:nvSpPr>
          <p:cNvPr id="115" name="Google Shape;115;p17">
            <a:extLst>
              <a:ext uri="{FF2B5EF4-FFF2-40B4-BE49-F238E27FC236}">
                <a16:creationId xmlns:a16="http://schemas.microsoft.com/office/drawing/2014/main" id="{D8D77F27-8236-64D7-ED32-76355692C8D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7A036530-18D6-3E93-5E5F-FF398A124721}"/>
              </a:ext>
            </a:extLst>
          </p:cNvPr>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B70C13DC-90C1-0AC4-42C6-112E77AEF970}"/>
              </a:ext>
            </a:extLst>
          </p:cNvPr>
          <p:cNvSpPr txBox="1">
            <a:spLocks/>
          </p:cNvSpPr>
          <p:nvPr/>
        </p:nvSpPr>
        <p:spPr>
          <a:xfrm>
            <a:off x="355600" y="1174282"/>
            <a:ext cx="11125200" cy="477413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dirty="0">
                <a:latin typeface="Calibri" pitchFamily="34" charset="0"/>
                <a:cs typeface="Calibri" pitchFamily="34" charset="0"/>
              </a:rPr>
              <a:t>Chronic Kidney Disease (CKD) is one of the most significant public health challenges worldwide, affecting millions of people across all age groups. Early detection of CKD plays a vital role in preventing its progression to kidney failure, which often requires dialysis or transplantation. Traditionally, CKD detection relies on medical tests such as serum creatinine, blood urea levels, blood pressure, and other laboratory findings. However, manual diagnosis is often time-consuming, prone to human error, and may fail to identify patients at early stages. With the increasing availability of clinical datasets and the advancement of data-driven techniques, machine learning (ML) has emerged as a promising solution for building predictive models that can assist healthcare professionals in early CKD detection.</a:t>
            </a:r>
            <a:endParaRPr lang="en-US" dirty="0">
              <a:latin typeface="Calibri" pitchFamily="34" charset="0"/>
              <a:cs typeface="Calibri" pitchFamily="34" charset="0"/>
            </a:endParaRPr>
          </a:p>
        </p:txBody>
      </p:sp>
    </p:spTree>
    <p:extLst>
      <p:ext uri="{BB962C8B-B14F-4D97-AF65-F5344CB8AC3E}">
        <p14:creationId xmlns:p14="http://schemas.microsoft.com/office/powerpoint/2010/main" val="2222790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1DA7-CFA0-31F8-E3FE-71B0264DE714}"/>
              </a:ext>
            </a:extLst>
          </p:cNvPr>
          <p:cNvSpPr>
            <a:spLocks noGrp="1"/>
          </p:cNvSpPr>
          <p:nvPr>
            <p:ph type="title"/>
          </p:nvPr>
        </p:nvSpPr>
        <p:spPr>
          <a:xfrm>
            <a:off x="812799" y="147782"/>
            <a:ext cx="10455566" cy="711200"/>
          </a:xfrm>
        </p:spPr>
        <p:txBody>
          <a:bodyPr/>
          <a:lstStyle/>
          <a:p>
            <a:br>
              <a:rPr lang="en-IN" dirty="0"/>
            </a:br>
            <a:r>
              <a:rPr lang="en-IN" dirty="0">
                <a:latin typeface="Cambria" panose="02040503050406030204" pitchFamily="18" charset="0"/>
                <a:ea typeface="Cambria" panose="02040503050406030204" pitchFamily="18" charset="0"/>
              </a:rPr>
              <a:t>Objective</a:t>
            </a:r>
          </a:p>
        </p:txBody>
      </p:sp>
      <p:sp>
        <p:nvSpPr>
          <p:cNvPr id="3" name="Text Placeholder 2">
            <a:extLst>
              <a:ext uri="{FF2B5EF4-FFF2-40B4-BE49-F238E27FC236}">
                <a16:creationId xmlns:a16="http://schemas.microsoft.com/office/drawing/2014/main" id="{0D49F188-9227-FA4B-CDC5-D8547D18A402}"/>
              </a:ext>
            </a:extLst>
          </p:cNvPr>
          <p:cNvSpPr>
            <a:spLocks noGrp="1"/>
          </p:cNvSpPr>
          <p:nvPr>
            <p:ph type="body" idx="1"/>
          </p:nvPr>
        </p:nvSpPr>
        <p:spPr>
          <a:xfrm>
            <a:off x="812799" y="979054"/>
            <a:ext cx="10797309" cy="5315527"/>
          </a:xfrm>
        </p:spPr>
        <p:txBody>
          <a:bodyPr>
            <a:normAutofit/>
          </a:bodyPr>
          <a:lstStyle/>
          <a:p>
            <a:r>
              <a:rPr lang="en-IN" dirty="0">
                <a:latin typeface="Calibri" pitchFamily="34" charset="0"/>
                <a:cs typeface="Calibri" pitchFamily="34" charset="0"/>
              </a:rPr>
              <a:t>To study and analyse the problem of CKD detection.</a:t>
            </a:r>
          </a:p>
          <a:p>
            <a:r>
              <a:rPr lang="en-IN" dirty="0">
                <a:latin typeface="Calibri" pitchFamily="34" charset="0"/>
                <a:cs typeface="Calibri" pitchFamily="34" charset="0"/>
              </a:rPr>
              <a:t>To collect and pre process the dataset for model building.</a:t>
            </a:r>
          </a:p>
          <a:p>
            <a:r>
              <a:rPr lang="en-IN" dirty="0">
                <a:latin typeface="Calibri" pitchFamily="34" charset="0"/>
                <a:cs typeface="Calibri" pitchFamily="34" charset="0"/>
              </a:rPr>
              <a:t>To perform feature selection and dimensionality reduction.</a:t>
            </a:r>
          </a:p>
          <a:p>
            <a:r>
              <a:rPr lang="en-IN" dirty="0">
                <a:latin typeface="Calibri" pitchFamily="34" charset="0"/>
                <a:cs typeface="Calibri" pitchFamily="34" charset="0"/>
              </a:rPr>
              <a:t>To address class imbalance in the dataset.</a:t>
            </a:r>
          </a:p>
          <a:p>
            <a:r>
              <a:rPr lang="en-IN" dirty="0">
                <a:latin typeface="Calibri" pitchFamily="34" charset="0"/>
                <a:cs typeface="Calibri" pitchFamily="34" charset="0"/>
              </a:rPr>
              <a:t>To apply and compare multiple machine learning algorithms.</a:t>
            </a:r>
          </a:p>
          <a:p>
            <a:r>
              <a:rPr lang="en-IN" dirty="0">
                <a:latin typeface="Calibri" pitchFamily="34" charset="0"/>
                <a:cs typeface="Calibri" pitchFamily="34" charset="0"/>
              </a:rPr>
              <a:t>To optimize the chosen algorithm for best accuracy.</a:t>
            </a:r>
          </a:p>
          <a:p>
            <a:r>
              <a:rPr lang="en-IN" dirty="0">
                <a:latin typeface="Calibri" pitchFamily="34" charset="0"/>
                <a:cs typeface="Calibri" pitchFamily="34" charset="0"/>
              </a:rPr>
              <a:t>To evaluate the system with appropriate metrics.</a:t>
            </a:r>
          </a:p>
          <a:p>
            <a:r>
              <a:rPr lang="en-IN" dirty="0">
                <a:latin typeface="Calibri" pitchFamily="34" charset="0"/>
                <a:cs typeface="Calibri" pitchFamily="34" charset="0"/>
              </a:rPr>
              <a:t>To develop a frontend system for real-time user interaction.</a:t>
            </a:r>
          </a:p>
          <a:p>
            <a:r>
              <a:rPr lang="en-IN" dirty="0">
                <a:latin typeface="Calibri" pitchFamily="34" charset="0"/>
                <a:cs typeface="Calibri" pitchFamily="34" charset="0"/>
              </a:rPr>
              <a:t>To document and present findings in a structured report.</a:t>
            </a:r>
            <a:endParaRPr lang="en-US" dirty="0">
              <a:latin typeface="Calibri" pitchFamily="34" charset="0"/>
              <a:ea typeface="Cambria" pitchFamily="18" charset="0"/>
              <a:cs typeface="Calibri" pitchFamily="34" charset="0"/>
            </a:endParaRPr>
          </a:p>
        </p:txBody>
      </p:sp>
    </p:spTree>
    <p:extLst>
      <p:ext uri="{BB962C8B-B14F-4D97-AF65-F5344CB8AC3E}">
        <p14:creationId xmlns:p14="http://schemas.microsoft.com/office/powerpoint/2010/main" val="1963496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4F7505D-783E-14AD-1D64-9AB3DEEC826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CA58EB85-F41F-D42D-2112-D9767BC5340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a:extLst>
              <a:ext uri="{FF2B5EF4-FFF2-40B4-BE49-F238E27FC236}">
                <a16:creationId xmlns:a16="http://schemas.microsoft.com/office/drawing/2014/main" id="{ECCEBE32-F210-F595-D727-CF26AD025D6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12A131D2-FB16-F4AB-09CB-75735BAECC28}"/>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5511810B-52CB-69D9-0674-99BD3192047D}"/>
              </a:ext>
            </a:extLst>
          </p:cNvPr>
          <p:cNvSpPr txBox="1">
            <a:spLocks/>
          </p:cNvSpPr>
          <p:nvPr/>
        </p:nvSpPr>
        <p:spPr>
          <a:xfrm>
            <a:off x="442686" y="1240971"/>
            <a:ext cx="11125200" cy="49529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lvl="0" indent="0" algn="just">
              <a:buNone/>
            </a:pPr>
            <a:r>
              <a:rPr lang="en-US" sz="2000" dirty="0">
                <a:latin typeface="Times New Roman" panose="02020603050405020304" pitchFamily="18" charset="0"/>
                <a:cs typeface="Times New Roman" panose="02020603050405020304" pitchFamily="18" charset="0"/>
              </a:rPr>
              <a:t>Machine Learning algorithms such as Logistic Regression, SVM, KNN, and Decision Trees are very popular choices for Chronic Kidney Disease (CKD) prediction owing to their simplicity and effectiveness. Logistic Regression is one of the easiest models to interpret as it bases CKD prediction on statistical probability and it also elucidates the impact of each feature—like blood pressure, serum creatinine, or hemoglobin—on the outcome very clearly. Support Vector Machine (SVM) particularly with the RBF kernel works well in discovering complicated non-linear relations within the clinical datasets and in small data sizes, though, it needs careful parameter tuning like C and gamma. K-Nearest Neighbors (KNN) determines the CKD status of a patient by looking at the most similar previous cases and it is simple and effective with normalized data but it gets gradually slow with larger datasets and is also sensitive to noise. Decision Trees, in contrast, use feature-based splits to classify patients and their rule-based structure makes it easy for medical doctors to interpret the results; still, they may overfit if pruning or regularization is not done. The combined power of these essential learning algorithms results in a strong baseline for CKD prediction and also emphasizes the need of pre-processing, feature selection, and parameter tuning for getting precise results.</a:t>
            </a:r>
          </a:p>
        </p:txBody>
      </p:sp>
    </p:spTree>
    <p:extLst>
      <p:ext uri="{BB962C8B-B14F-4D97-AF65-F5344CB8AC3E}">
        <p14:creationId xmlns:p14="http://schemas.microsoft.com/office/powerpoint/2010/main" val="3883669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784B6126-04BF-05CB-C32E-EAFDCBDE93D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52C574A-8DF1-6FFC-6ACC-161B5D964AE9}"/>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Literature Survey Table</a:t>
            </a:r>
          </a:p>
        </p:txBody>
      </p:sp>
      <p:sp>
        <p:nvSpPr>
          <p:cNvPr id="115" name="Google Shape;115;p17">
            <a:extLst>
              <a:ext uri="{FF2B5EF4-FFF2-40B4-BE49-F238E27FC236}">
                <a16:creationId xmlns:a16="http://schemas.microsoft.com/office/drawing/2014/main" id="{2F510199-0F17-EC00-9D22-6941316E6F36}"/>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96E0FE76-1527-841E-090A-B6BF71AAF3A1}"/>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03EE841B-4F49-406C-5726-158D9FE868CA}"/>
              </a:ext>
            </a:extLst>
          </p:cNvPr>
          <p:cNvSpPr txBox="1">
            <a:spLocks/>
          </p:cNvSpPr>
          <p:nvPr/>
        </p:nvSpPr>
        <p:spPr>
          <a:xfrm>
            <a:off x="533400" y="1031650"/>
            <a:ext cx="11125200" cy="49529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lang="en-IN"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D14F1EB1-CEDA-7948-C3A4-6CDC3A7CE051}"/>
              </a:ext>
            </a:extLst>
          </p:cNvPr>
          <p:cNvGraphicFramePr>
            <a:graphicFrameLocks noGrp="1"/>
          </p:cNvGraphicFramePr>
          <p:nvPr>
            <p:extLst>
              <p:ext uri="{D42A27DB-BD31-4B8C-83A1-F6EECF244321}">
                <p14:modId xmlns:p14="http://schemas.microsoft.com/office/powerpoint/2010/main" val="4132401272"/>
              </p:ext>
            </p:extLst>
          </p:nvPr>
        </p:nvGraphicFramePr>
        <p:xfrm>
          <a:off x="1318662" y="1176562"/>
          <a:ext cx="8932242" cy="4778915"/>
        </p:xfrm>
        <a:graphic>
          <a:graphicData uri="http://schemas.openxmlformats.org/drawingml/2006/table">
            <a:tbl>
              <a:tblPr/>
              <a:tblGrid>
                <a:gridCol w="1044413">
                  <a:extLst>
                    <a:ext uri="{9D8B030D-6E8A-4147-A177-3AD203B41FA5}">
                      <a16:colId xmlns:a16="http://schemas.microsoft.com/office/drawing/2014/main" val="2068865537"/>
                    </a:ext>
                  </a:extLst>
                </a:gridCol>
                <a:gridCol w="2343679">
                  <a:extLst>
                    <a:ext uri="{9D8B030D-6E8A-4147-A177-3AD203B41FA5}">
                      <a16:colId xmlns:a16="http://schemas.microsoft.com/office/drawing/2014/main" val="1663750587"/>
                    </a:ext>
                  </a:extLst>
                </a:gridCol>
                <a:gridCol w="5544150">
                  <a:extLst>
                    <a:ext uri="{9D8B030D-6E8A-4147-A177-3AD203B41FA5}">
                      <a16:colId xmlns:a16="http://schemas.microsoft.com/office/drawing/2014/main" val="4278533603"/>
                    </a:ext>
                  </a:extLst>
                </a:gridCol>
              </a:tblGrid>
              <a:tr h="198273">
                <a:tc>
                  <a:txBody>
                    <a:bodyPr/>
                    <a:lstStyle/>
                    <a:p>
                      <a:pPr algn="l" fontAlgn="b">
                        <a:lnSpc>
                          <a:spcPts val="1200"/>
                        </a:lnSpc>
                        <a:buNone/>
                      </a:pPr>
                      <a:r>
                        <a:rPr lang="en-IN" b="1" dirty="0">
                          <a:solidFill>
                            <a:schemeClr val="tx1">
                              <a:lumMod val="95000"/>
                              <a:lumOff val="5000"/>
                            </a:schemeClr>
                          </a:solidFill>
                          <a:effectLst/>
                        </a:rPr>
                        <a:t>No.</a:t>
                      </a:r>
                    </a:p>
                  </a:txBody>
                  <a:tcPr anchor="b">
                    <a:lnL w="12700" cap="flat" cmpd="sng" algn="ctr">
                      <a:solidFill>
                        <a:srgbClr val="B0BDE1"/>
                      </a:solidFill>
                      <a:prstDash val="solid"/>
                      <a:round/>
                      <a:headEnd type="none" w="med" len="med"/>
                      <a:tailEnd type="none" w="med" len="med"/>
                    </a:lnL>
                    <a:lnR w="12700" cap="flat" cmpd="sng" algn="ctr">
                      <a:solidFill>
                        <a:srgbClr val="F0CEE1"/>
                      </a:solidFill>
                      <a:prstDash val="solid"/>
                      <a:round/>
                      <a:headEnd type="none" w="med" len="med"/>
                      <a:tailEnd type="none" w="med" len="med"/>
                    </a:lnR>
                    <a:lnT w="12700" cap="flat" cmpd="sng" algn="ctr">
                      <a:solidFill>
                        <a:srgbClr val="B0BDE1"/>
                      </a:solidFill>
                      <a:prstDash val="solid"/>
                      <a:round/>
                      <a:headEnd type="none" w="med" len="med"/>
                      <a:tailEnd type="none" w="med" len="med"/>
                    </a:lnT>
                    <a:lnB w="12700" cap="flat" cmpd="sng" algn="ctr">
                      <a:solidFill>
                        <a:srgbClr val="3006DE"/>
                      </a:solidFill>
                      <a:prstDash val="solid"/>
                      <a:round/>
                      <a:headEnd type="none" w="med" len="med"/>
                      <a:tailEnd type="none" w="med" len="med"/>
                    </a:lnB>
                    <a:solidFill>
                      <a:srgbClr val="FFFFFF"/>
                    </a:solidFill>
                  </a:tcPr>
                </a:tc>
                <a:tc>
                  <a:txBody>
                    <a:bodyPr/>
                    <a:lstStyle/>
                    <a:p>
                      <a:pPr algn="l" fontAlgn="b">
                        <a:lnSpc>
                          <a:spcPts val="1200"/>
                        </a:lnSpc>
                        <a:buNone/>
                      </a:pPr>
                      <a:r>
                        <a:rPr lang="en-IN" b="1" dirty="0">
                          <a:solidFill>
                            <a:schemeClr val="tx1">
                              <a:lumMod val="95000"/>
                              <a:lumOff val="5000"/>
                            </a:schemeClr>
                          </a:solidFill>
                          <a:effectLst/>
                        </a:rPr>
                        <a:t>Paper </a:t>
                      </a:r>
                    </a:p>
                  </a:txBody>
                  <a:tcPr anchor="b">
                    <a:lnL w="12700" cap="flat" cmpd="sng" algn="ctr">
                      <a:solidFill>
                        <a:srgbClr val="F0CEE1"/>
                      </a:solidFill>
                      <a:prstDash val="solid"/>
                      <a:round/>
                      <a:headEnd type="none" w="med" len="med"/>
                      <a:tailEnd type="none" w="med" len="med"/>
                    </a:lnL>
                    <a:lnR w="12700" cap="flat" cmpd="sng" algn="ctr">
                      <a:solidFill>
                        <a:srgbClr val="6023E1"/>
                      </a:solidFill>
                      <a:prstDash val="solid"/>
                      <a:round/>
                      <a:headEnd type="none" w="med" len="med"/>
                      <a:tailEnd type="none" w="med" len="med"/>
                    </a:lnR>
                    <a:lnT w="12700" cap="flat" cmpd="sng" algn="ctr">
                      <a:solidFill>
                        <a:srgbClr val="F0CEE1"/>
                      </a:solidFill>
                      <a:prstDash val="solid"/>
                      <a:round/>
                      <a:headEnd type="none" w="med" len="med"/>
                      <a:tailEnd type="none" w="med" len="med"/>
                    </a:lnT>
                    <a:lnB w="12700" cap="flat" cmpd="sng" algn="ctr">
                      <a:solidFill>
                        <a:srgbClr val="F01FDE"/>
                      </a:solidFill>
                      <a:prstDash val="solid"/>
                      <a:round/>
                      <a:headEnd type="none" w="med" len="med"/>
                      <a:tailEnd type="none" w="med" len="med"/>
                    </a:lnB>
                    <a:solidFill>
                      <a:srgbClr val="FFFFFF"/>
                    </a:solidFill>
                  </a:tcPr>
                </a:tc>
                <a:tc>
                  <a:txBody>
                    <a:bodyPr/>
                    <a:lstStyle/>
                    <a:p>
                      <a:pPr algn="l" fontAlgn="b">
                        <a:lnSpc>
                          <a:spcPts val="1200"/>
                        </a:lnSpc>
                        <a:buNone/>
                      </a:pPr>
                      <a:r>
                        <a:rPr lang="en-IN" b="1">
                          <a:solidFill>
                            <a:schemeClr val="tx1">
                              <a:lumMod val="95000"/>
                              <a:lumOff val="5000"/>
                            </a:schemeClr>
                          </a:solidFill>
                          <a:effectLst/>
                        </a:rPr>
                        <a:t>Short Description</a:t>
                      </a:r>
                    </a:p>
                  </a:txBody>
                  <a:tcPr anchor="b">
                    <a:lnL w="12700" cap="flat" cmpd="sng" algn="ctr">
                      <a:solidFill>
                        <a:srgbClr val="6023E1"/>
                      </a:solidFill>
                      <a:prstDash val="solid"/>
                      <a:round/>
                      <a:headEnd type="none" w="med" len="med"/>
                      <a:tailEnd type="none" w="med" len="med"/>
                    </a:lnL>
                    <a:lnR w="12700" cap="flat" cmpd="sng" algn="ctr">
                      <a:solidFill>
                        <a:srgbClr val="6023E1"/>
                      </a:solidFill>
                      <a:prstDash val="solid"/>
                      <a:round/>
                      <a:headEnd type="none" w="med" len="med"/>
                      <a:tailEnd type="none" w="med" len="med"/>
                    </a:lnR>
                    <a:lnT w="12700" cap="flat" cmpd="sng" algn="ctr">
                      <a:solidFill>
                        <a:srgbClr val="6023E1"/>
                      </a:solidFill>
                      <a:prstDash val="solid"/>
                      <a:round/>
                      <a:headEnd type="none" w="med" len="med"/>
                      <a:tailEnd type="none" w="med" len="med"/>
                    </a:lnT>
                    <a:lnB w="12700" cap="flat" cmpd="sng" algn="ctr">
                      <a:solidFill>
                        <a:srgbClr val="B018DE"/>
                      </a:solidFill>
                      <a:prstDash val="solid"/>
                      <a:round/>
                      <a:headEnd type="none" w="med" len="med"/>
                      <a:tailEnd type="none" w="med" len="med"/>
                    </a:lnB>
                    <a:solidFill>
                      <a:srgbClr val="FFFFFF"/>
                    </a:solidFill>
                  </a:tcPr>
                </a:tc>
                <a:extLst>
                  <a:ext uri="{0D108BD9-81ED-4DB2-BD59-A6C34878D82A}">
                    <a16:rowId xmlns:a16="http://schemas.microsoft.com/office/drawing/2014/main" val="428078856"/>
                  </a:ext>
                </a:extLst>
              </a:tr>
              <a:tr h="520051">
                <a:tc>
                  <a:txBody>
                    <a:bodyPr/>
                    <a:lstStyle/>
                    <a:p>
                      <a:r>
                        <a:rPr lang="en-US" dirty="0"/>
                        <a:t>Sl. No.</a:t>
                      </a:r>
                    </a:p>
                  </a:txBody>
                  <a:tcPr anchor="ctr">
                    <a:lnL w="12700" cap="flat" cmpd="sng" algn="ctr">
                      <a:solidFill>
                        <a:srgbClr val="7025DE"/>
                      </a:solidFill>
                      <a:prstDash val="solid"/>
                      <a:round/>
                      <a:headEnd type="none" w="med" len="med"/>
                      <a:tailEnd type="none" w="med" len="med"/>
                    </a:lnL>
                    <a:lnR w="12700" cap="flat" cmpd="sng" algn="ctr">
                      <a:solidFill>
                        <a:srgbClr val="302EDE"/>
                      </a:solidFill>
                      <a:prstDash val="solid"/>
                      <a:round/>
                      <a:headEnd type="none" w="med" len="med"/>
                      <a:tailEnd type="none" w="med" len="med"/>
                    </a:lnR>
                    <a:lnT w="12700" cap="flat" cmpd="sng" algn="ctr">
                      <a:solidFill>
                        <a:srgbClr val="3006DE"/>
                      </a:solidFill>
                      <a:prstDash val="solid"/>
                      <a:round/>
                      <a:headEnd type="none" w="med" len="med"/>
                      <a:tailEnd type="none" w="med" len="med"/>
                    </a:lnT>
                    <a:lnB w="12700" cap="flat" cmpd="sng" algn="ctr">
                      <a:solidFill>
                        <a:srgbClr val="702FDE"/>
                      </a:solidFill>
                      <a:prstDash val="solid"/>
                      <a:round/>
                      <a:headEnd type="none" w="med" len="med"/>
                      <a:tailEnd type="none" w="med" len="med"/>
                    </a:lnB>
                    <a:solidFill>
                      <a:srgbClr val="FFFFFF"/>
                    </a:solidFill>
                  </a:tcPr>
                </a:tc>
                <a:tc>
                  <a:txBody>
                    <a:bodyPr/>
                    <a:lstStyle/>
                    <a:p>
                      <a:r>
                        <a:rPr lang="en-US" dirty="0"/>
                        <a:t>Paper </a:t>
                      </a:r>
                    </a:p>
                  </a:txBody>
                  <a:tcPr anchor="ctr">
                    <a:lnL w="12700" cap="flat" cmpd="sng" algn="ctr">
                      <a:solidFill>
                        <a:srgbClr val="302E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F01FDE"/>
                      </a:solidFill>
                      <a:prstDash val="solid"/>
                      <a:round/>
                      <a:headEnd type="none" w="med" len="med"/>
                      <a:tailEnd type="none" w="med" len="med"/>
                    </a:lnT>
                    <a:lnB w="12700" cap="flat" cmpd="sng" algn="ctr">
                      <a:solidFill>
                        <a:srgbClr val="B03BDC"/>
                      </a:solidFill>
                      <a:prstDash val="solid"/>
                      <a:round/>
                      <a:headEnd type="none" w="med" len="med"/>
                      <a:tailEnd type="none" w="med" len="med"/>
                    </a:lnB>
                    <a:solidFill>
                      <a:srgbClr val="FFFFFF"/>
                    </a:solidFill>
                  </a:tcPr>
                </a:tc>
                <a:tc>
                  <a:txBody>
                    <a:bodyPr/>
                    <a:lstStyle/>
                    <a:p>
                      <a:r>
                        <a:rPr lang="en-US"/>
                        <a:t>Short Description</a:t>
                      </a:r>
                    </a:p>
                  </a:txBody>
                  <a:tcPr anchor="ctr">
                    <a:lnL w="12700" cap="flat" cmpd="sng" algn="ctr">
                      <a:solidFill>
                        <a:srgbClr val="B028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18DE"/>
                      </a:solidFill>
                      <a:prstDash val="solid"/>
                      <a:round/>
                      <a:headEnd type="none" w="med" len="med"/>
                      <a:tailEnd type="none" w="med" len="med"/>
                    </a:lnT>
                    <a:lnB w="12700" cap="flat" cmpd="sng" algn="ctr">
                      <a:solidFill>
                        <a:srgbClr val="B03ADC"/>
                      </a:solidFill>
                      <a:prstDash val="solid"/>
                      <a:round/>
                      <a:headEnd type="none" w="med" len="med"/>
                      <a:tailEnd type="none" w="med" len="med"/>
                    </a:lnB>
                    <a:solidFill>
                      <a:srgbClr val="FFFFFF"/>
                    </a:solidFill>
                  </a:tcPr>
                </a:tc>
                <a:extLst>
                  <a:ext uri="{0D108BD9-81ED-4DB2-BD59-A6C34878D82A}">
                    <a16:rowId xmlns:a16="http://schemas.microsoft.com/office/drawing/2014/main" val="3418657893"/>
                  </a:ext>
                </a:extLst>
              </a:tr>
              <a:tr h="941796">
                <a:tc>
                  <a:txBody>
                    <a:bodyPr/>
                    <a:lstStyle/>
                    <a:p>
                      <a:r>
                        <a:rPr lang="en-US"/>
                        <a:t>1</a:t>
                      </a:r>
                    </a:p>
                  </a:txBody>
                  <a:tcPr anchor="ctr">
                    <a:lnL w="12700" cap="flat" cmpd="sng" algn="ctr">
                      <a:solidFill>
                        <a:srgbClr val="7025DE"/>
                      </a:solidFill>
                      <a:prstDash val="solid"/>
                      <a:round/>
                      <a:headEnd type="none" w="med" len="med"/>
                      <a:tailEnd type="none" w="med" len="med"/>
                    </a:lnL>
                    <a:lnR w="12700" cap="flat" cmpd="sng" algn="ctr">
                      <a:solidFill>
                        <a:srgbClr val="302EDE"/>
                      </a:solidFill>
                      <a:prstDash val="solid"/>
                      <a:round/>
                      <a:headEnd type="none" w="med" len="med"/>
                      <a:tailEnd type="none" w="med" len="med"/>
                    </a:lnR>
                    <a:lnT w="12700" cap="flat" cmpd="sng" algn="ctr">
                      <a:solidFill>
                        <a:srgbClr val="702FDE"/>
                      </a:solidFill>
                      <a:prstDash val="solid"/>
                      <a:round/>
                      <a:headEnd type="none" w="med" len="med"/>
                      <a:tailEnd type="none" w="med" len="med"/>
                    </a:lnT>
                    <a:lnB w="12700" cap="flat" cmpd="sng" algn="ctr">
                      <a:solidFill>
                        <a:srgbClr val="702FDE"/>
                      </a:solidFill>
                      <a:prstDash val="solid"/>
                      <a:round/>
                      <a:headEnd type="none" w="med" len="med"/>
                      <a:tailEnd type="none" w="med" len="med"/>
                    </a:lnB>
                    <a:solidFill>
                      <a:srgbClr val="FFFFFF"/>
                    </a:solidFill>
                  </a:tcPr>
                </a:tc>
                <a:tc>
                  <a:txBody>
                    <a:bodyPr/>
                    <a:lstStyle/>
                    <a:p>
                      <a:r>
                        <a:rPr lang="en-US" dirty="0" err="1"/>
                        <a:t>Patil</a:t>
                      </a:r>
                      <a:r>
                        <a:rPr lang="en-US" dirty="0"/>
                        <a:t> et al. (2019)</a:t>
                      </a:r>
                    </a:p>
                  </a:txBody>
                  <a:tcPr anchor="ctr">
                    <a:lnL w="12700" cap="flat" cmpd="sng" algn="ctr">
                      <a:solidFill>
                        <a:srgbClr val="302E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3BDC"/>
                      </a:solidFill>
                      <a:prstDash val="solid"/>
                      <a:round/>
                      <a:headEnd type="none" w="med" len="med"/>
                      <a:tailEnd type="none" w="med" len="med"/>
                    </a:lnT>
                    <a:lnB w="12700" cap="flat" cmpd="sng" algn="ctr">
                      <a:solidFill>
                        <a:srgbClr val="B03BDC"/>
                      </a:solidFill>
                      <a:prstDash val="solid"/>
                      <a:round/>
                      <a:headEnd type="none" w="med" len="med"/>
                      <a:tailEnd type="none" w="med" len="med"/>
                    </a:lnB>
                    <a:solidFill>
                      <a:srgbClr val="FFFFFF"/>
                    </a:solidFill>
                  </a:tcPr>
                </a:tc>
                <a:tc>
                  <a:txBody>
                    <a:bodyPr/>
                    <a:lstStyle/>
                    <a:p>
                      <a:r>
                        <a:rPr lang="en-US" dirty="0"/>
                        <a:t>Applied Decision Tree and Naïve </a:t>
                      </a:r>
                      <a:r>
                        <a:rPr lang="en-US" dirty="0" err="1"/>
                        <a:t>Bayes</a:t>
                      </a:r>
                      <a:r>
                        <a:rPr lang="en-US" dirty="0"/>
                        <a:t> on UCI CKD dataset; achieved ~92% accuracy. Performance affected by missing values; highlighted importance of preprocessing.</a:t>
                      </a:r>
                    </a:p>
                  </a:txBody>
                  <a:tcPr anchor="ctr">
                    <a:lnL w="12700" cap="flat" cmpd="sng" algn="ctr">
                      <a:solidFill>
                        <a:srgbClr val="B028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3ADC"/>
                      </a:solidFill>
                      <a:prstDash val="solid"/>
                      <a:round/>
                      <a:headEnd type="none" w="med" len="med"/>
                      <a:tailEnd type="none" w="med" len="med"/>
                    </a:lnT>
                    <a:lnB w="12700" cap="flat" cmpd="sng" algn="ctr">
                      <a:solidFill>
                        <a:srgbClr val="B03A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8307">
                <a:tc>
                  <a:txBody>
                    <a:bodyPr/>
                    <a:lstStyle/>
                    <a:p>
                      <a:r>
                        <a:rPr lang="en-US"/>
                        <a:t>2</a:t>
                      </a:r>
                    </a:p>
                  </a:txBody>
                  <a:tcPr anchor="ctr">
                    <a:lnL w="12700" cap="flat" cmpd="sng" algn="ctr">
                      <a:solidFill>
                        <a:srgbClr val="7025DE"/>
                      </a:solidFill>
                      <a:prstDash val="solid"/>
                      <a:round/>
                      <a:headEnd type="none" w="med" len="med"/>
                      <a:tailEnd type="none" w="med" len="med"/>
                    </a:lnL>
                    <a:lnR w="12700" cap="flat" cmpd="sng" algn="ctr">
                      <a:solidFill>
                        <a:srgbClr val="302EDE"/>
                      </a:solidFill>
                      <a:prstDash val="solid"/>
                      <a:round/>
                      <a:headEnd type="none" w="med" len="med"/>
                      <a:tailEnd type="none" w="med" len="med"/>
                    </a:lnR>
                    <a:lnT w="12700" cap="flat" cmpd="sng" algn="ctr">
                      <a:solidFill>
                        <a:srgbClr val="702FDE"/>
                      </a:solidFill>
                      <a:prstDash val="solid"/>
                      <a:round/>
                      <a:headEnd type="none" w="med" len="med"/>
                      <a:tailEnd type="none" w="med" len="med"/>
                    </a:lnT>
                    <a:lnB w="12700" cap="flat" cmpd="sng" algn="ctr">
                      <a:solidFill>
                        <a:srgbClr val="702FDE"/>
                      </a:solidFill>
                      <a:prstDash val="solid"/>
                      <a:round/>
                      <a:headEnd type="none" w="med" len="med"/>
                      <a:tailEnd type="none" w="med" len="med"/>
                    </a:lnB>
                    <a:solidFill>
                      <a:srgbClr val="FFFFFF"/>
                    </a:solidFill>
                  </a:tcPr>
                </a:tc>
                <a:tc>
                  <a:txBody>
                    <a:bodyPr/>
                    <a:lstStyle/>
                    <a:p>
                      <a:r>
                        <a:rPr lang="en-US" dirty="0" err="1"/>
                        <a:t>Gonçalves</a:t>
                      </a:r>
                      <a:r>
                        <a:rPr lang="en-US" dirty="0"/>
                        <a:t> et al. (2020)</a:t>
                      </a:r>
                    </a:p>
                  </a:txBody>
                  <a:tcPr anchor="ctr">
                    <a:lnL w="12700" cap="flat" cmpd="sng" algn="ctr">
                      <a:solidFill>
                        <a:srgbClr val="302E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3BDC"/>
                      </a:solidFill>
                      <a:prstDash val="solid"/>
                      <a:round/>
                      <a:headEnd type="none" w="med" len="med"/>
                      <a:tailEnd type="none" w="med" len="med"/>
                    </a:lnT>
                    <a:lnB w="12700" cap="flat" cmpd="sng" algn="ctr">
                      <a:solidFill>
                        <a:srgbClr val="B03BDC"/>
                      </a:solidFill>
                      <a:prstDash val="solid"/>
                      <a:round/>
                      <a:headEnd type="none" w="med" len="med"/>
                      <a:tailEnd type="none" w="med" len="med"/>
                    </a:lnB>
                    <a:solidFill>
                      <a:srgbClr val="FFFFFF"/>
                    </a:solidFill>
                  </a:tcPr>
                </a:tc>
                <a:tc>
                  <a:txBody>
                    <a:bodyPr/>
                    <a:lstStyle/>
                    <a:p>
                      <a:r>
                        <a:rPr lang="en-US" dirty="0"/>
                        <a:t>Compared Logistic Regression, Random Forest, and SVM; Random Forest performed best (~95% accuracy). Limitation: class imbalance reduced sensitivity.</a:t>
                      </a:r>
                    </a:p>
                  </a:txBody>
                  <a:tcPr anchor="ctr">
                    <a:lnL w="12700" cap="flat" cmpd="sng" algn="ctr">
                      <a:solidFill>
                        <a:srgbClr val="B028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3ADC"/>
                      </a:solidFill>
                      <a:prstDash val="solid"/>
                      <a:round/>
                      <a:headEnd type="none" w="med" len="med"/>
                      <a:tailEnd type="none" w="med" len="med"/>
                    </a:lnT>
                    <a:lnB w="12700" cap="flat" cmpd="sng" algn="ctr">
                      <a:solidFill>
                        <a:srgbClr val="B03A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68307">
                <a:tc>
                  <a:txBody>
                    <a:bodyPr/>
                    <a:lstStyle/>
                    <a:p>
                      <a:r>
                        <a:rPr lang="en-US" dirty="0"/>
                        <a:t>3</a:t>
                      </a:r>
                    </a:p>
                  </a:txBody>
                  <a:tcPr anchor="ctr">
                    <a:lnL w="12700" cap="flat" cmpd="sng" algn="ctr">
                      <a:solidFill>
                        <a:srgbClr val="7025DE"/>
                      </a:solidFill>
                      <a:prstDash val="solid"/>
                      <a:round/>
                      <a:headEnd type="none" w="med" len="med"/>
                      <a:tailEnd type="none" w="med" len="med"/>
                    </a:lnL>
                    <a:lnR w="12700" cap="flat" cmpd="sng" algn="ctr">
                      <a:solidFill>
                        <a:srgbClr val="302EDE"/>
                      </a:solidFill>
                      <a:prstDash val="solid"/>
                      <a:round/>
                      <a:headEnd type="none" w="med" len="med"/>
                      <a:tailEnd type="none" w="med" len="med"/>
                    </a:lnR>
                    <a:lnT w="12700" cap="flat" cmpd="sng" algn="ctr">
                      <a:solidFill>
                        <a:srgbClr val="702FDE"/>
                      </a:solidFill>
                      <a:prstDash val="solid"/>
                      <a:round/>
                      <a:headEnd type="none" w="med" len="med"/>
                      <a:tailEnd type="none" w="med" len="med"/>
                    </a:lnT>
                    <a:lnB w="12700" cap="flat" cmpd="sng" algn="ctr">
                      <a:solidFill>
                        <a:srgbClr val="702FDE"/>
                      </a:solidFill>
                      <a:prstDash val="solid"/>
                      <a:round/>
                      <a:headEnd type="none" w="med" len="med"/>
                      <a:tailEnd type="none" w="med" len="med"/>
                    </a:lnB>
                    <a:solidFill>
                      <a:srgbClr val="FFFFFF"/>
                    </a:solidFill>
                  </a:tcPr>
                </a:tc>
                <a:tc>
                  <a:txBody>
                    <a:bodyPr/>
                    <a:lstStyle/>
                    <a:p>
                      <a:r>
                        <a:rPr lang="en-US" dirty="0" err="1"/>
                        <a:t>Jha</a:t>
                      </a:r>
                      <a:r>
                        <a:rPr lang="en-US" dirty="0"/>
                        <a:t> et al. (2021)</a:t>
                      </a:r>
                    </a:p>
                  </a:txBody>
                  <a:tcPr anchor="ctr">
                    <a:lnL w="12700" cap="flat" cmpd="sng" algn="ctr">
                      <a:solidFill>
                        <a:srgbClr val="302E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3BDC"/>
                      </a:solidFill>
                      <a:prstDash val="solid"/>
                      <a:round/>
                      <a:headEnd type="none" w="med" len="med"/>
                      <a:tailEnd type="none" w="med" len="med"/>
                    </a:lnT>
                    <a:lnB w="12700" cap="flat" cmpd="sng" algn="ctr">
                      <a:solidFill>
                        <a:srgbClr val="B03BDC"/>
                      </a:solidFill>
                      <a:prstDash val="solid"/>
                      <a:round/>
                      <a:headEnd type="none" w="med" len="med"/>
                      <a:tailEnd type="none" w="med" len="med"/>
                    </a:lnB>
                    <a:solidFill>
                      <a:srgbClr val="FFFFFF"/>
                    </a:solidFill>
                  </a:tcPr>
                </a:tc>
                <a:tc>
                  <a:txBody>
                    <a:bodyPr/>
                    <a:lstStyle/>
                    <a:p>
                      <a:r>
                        <a:rPr lang="en-US" dirty="0"/>
                        <a:t>Used SVM and Random Forest with feature selection; accuracy ~97%. Issue: </a:t>
                      </a:r>
                      <a:r>
                        <a:rPr lang="en-US" dirty="0" err="1"/>
                        <a:t>overfitting</a:t>
                      </a:r>
                      <a:r>
                        <a:rPr lang="en-US" dirty="0"/>
                        <a:t> due to small dataset size.</a:t>
                      </a:r>
                    </a:p>
                  </a:txBody>
                  <a:tcPr anchor="ctr">
                    <a:lnL w="12700" cap="flat" cmpd="sng" algn="ctr">
                      <a:solidFill>
                        <a:srgbClr val="B028DE"/>
                      </a:solidFill>
                      <a:prstDash val="solid"/>
                      <a:round/>
                      <a:headEnd type="none" w="med" len="med"/>
                      <a:tailEnd type="none" w="med" len="med"/>
                    </a:lnL>
                    <a:lnR w="12700" cap="flat" cmpd="sng" algn="ctr">
                      <a:solidFill>
                        <a:srgbClr val="B028DE"/>
                      </a:solidFill>
                      <a:prstDash val="solid"/>
                      <a:round/>
                      <a:headEnd type="none" w="med" len="med"/>
                      <a:tailEnd type="none" w="med" len="med"/>
                    </a:lnR>
                    <a:lnT w="12700" cap="flat" cmpd="sng" algn="ctr">
                      <a:solidFill>
                        <a:srgbClr val="B03ADC"/>
                      </a:solidFill>
                      <a:prstDash val="solid"/>
                      <a:round/>
                      <a:headEnd type="none" w="med" len="med"/>
                      <a:tailEnd type="none" w="med" len="med"/>
                    </a:lnT>
                    <a:lnB w="12700" cap="flat" cmpd="sng" algn="ctr">
                      <a:solidFill>
                        <a:srgbClr val="B03A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68307">
                <a:tc>
                  <a:txBody>
                    <a:bodyPr/>
                    <a:lstStyle/>
                    <a:p>
                      <a:r>
                        <a:rPr lang="en-US"/>
                        <a:t>4</a:t>
                      </a:r>
                    </a:p>
                  </a:txBody>
                  <a:tcPr anchor="ctr">
                    <a:lnL w="12700" cap="flat" cmpd="sng" algn="ctr">
                      <a:solidFill>
                        <a:srgbClr val="702FDE"/>
                      </a:solidFill>
                      <a:prstDash val="solid"/>
                      <a:round/>
                      <a:headEnd type="none" w="med" len="med"/>
                      <a:tailEnd type="none" w="med" len="med"/>
                    </a:lnL>
                    <a:lnR w="12700" cap="flat" cmpd="sng" algn="ctr">
                      <a:solidFill>
                        <a:srgbClr val="B03BDC"/>
                      </a:solidFill>
                      <a:prstDash val="solid"/>
                      <a:round/>
                      <a:headEnd type="none" w="med" len="med"/>
                      <a:tailEnd type="none" w="med" len="med"/>
                    </a:lnR>
                    <a:lnT w="12700" cap="flat" cmpd="sng" algn="ctr">
                      <a:solidFill>
                        <a:srgbClr val="702FDE"/>
                      </a:solidFill>
                      <a:prstDash val="solid"/>
                      <a:round/>
                      <a:headEnd type="none" w="med" len="med"/>
                      <a:tailEnd type="none" w="med" len="med"/>
                    </a:lnT>
                    <a:lnB w="12700" cap="flat" cmpd="sng" algn="ctr">
                      <a:solidFill>
                        <a:srgbClr val="F038DC"/>
                      </a:solidFill>
                      <a:prstDash val="solid"/>
                      <a:round/>
                      <a:headEnd type="none" w="med" len="med"/>
                      <a:tailEnd type="none" w="med" len="med"/>
                    </a:lnB>
                    <a:solidFill>
                      <a:srgbClr val="FFFFFF"/>
                    </a:solidFill>
                  </a:tcPr>
                </a:tc>
                <a:tc>
                  <a:txBody>
                    <a:bodyPr/>
                    <a:lstStyle/>
                    <a:p>
                      <a:r>
                        <a:rPr lang="en-US" dirty="0" err="1"/>
                        <a:t>Ramakrishnan</a:t>
                      </a:r>
                      <a:r>
                        <a:rPr lang="en-US" dirty="0"/>
                        <a:t> et al. (2019)</a:t>
                      </a:r>
                    </a:p>
                  </a:txBody>
                  <a:tcPr anchor="ctr">
                    <a:lnL w="12700" cap="flat" cmpd="sng" algn="ctr">
                      <a:solidFill>
                        <a:srgbClr val="B03BDC"/>
                      </a:solidFill>
                      <a:prstDash val="solid"/>
                      <a:round/>
                      <a:headEnd type="none" w="med" len="med"/>
                      <a:tailEnd type="none" w="med" len="med"/>
                    </a:lnL>
                    <a:lnR w="12700" cap="flat" cmpd="sng" algn="ctr">
                      <a:solidFill>
                        <a:srgbClr val="B03ADC"/>
                      </a:solidFill>
                      <a:prstDash val="solid"/>
                      <a:round/>
                      <a:headEnd type="none" w="med" len="med"/>
                      <a:tailEnd type="none" w="med" len="med"/>
                    </a:lnR>
                    <a:lnT w="12700" cap="flat" cmpd="sng" algn="ctr">
                      <a:solidFill>
                        <a:srgbClr val="B03BDC"/>
                      </a:solidFill>
                      <a:prstDash val="solid"/>
                      <a:round/>
                      <a:headEnd type="none" w="med" len="med"/>
                      <a:tailEnd type="none" w="med" len="med"/>
                    </a:lnT>
                    <a:lnB w="12700" cap="flat" cmpd="sng" algn="ctr">
                      <a:solidFill>
                        <a:srgbClr val="F03FDC"/>
                      </a:solidFill>
                      <a:prstDash val="solid"/>
                      <a:round/>
                      <a:headEnd type="none" w="med" len="med"/>
                      <a:tailEnd type="none" w="med" len="med"/>
                    </a:lnB>
                    <a:solidFill>
                      <a:srgbClr val="FFFFFF"/>
                    </a:solidFill>
                  </a:tcPr>
                </a:tc>
                <a:tc>
                  <a:txBody>
                    <a:bodyPr/>
                    <a:lstStyle/>
                    <a:p>
                      <a:r>
                        <a:rPr lang="en-US" dirty="0"/>
                        <a:t>Applied Naïve </a:t>
                      </a:r>
                      <a:r>
                        <a:rPr lang="en-US" dirty="0" err="1"/>
                        <a:t>Bayes</a:t>
                      </a:r>
                      <a:r>
                        <a:rPr lang="en-US" dirty="0"/>
                        <a:t> and Logistic Regression on UCI CKD dataset; accuracy ~88–90%. Concluded simple models are interpretable but miss subtle patterns.</a:t>
                      </a:r>
                    </a:p>
                  </a:txBody>
                  <a:tcPr anchor="ctr">
                    <a:lnL w="12700" cap="flat" cmpd="sng" algn="ctr">
                      <a:solidFill>
                        <a:srgbClr val="B03ADC"/>
                      </a:solidFill>
                      <a:prstDash val="solid"/>
                      <a:round/>
                      <a:headEnd type="none" w="med" len="med"/>
                      <a:tailEnd type="none" w="med" len="med"/>
                    </a:lnL>
                    <a:lnR w="12700" cap="flat" cmpd="sng" algn="ctr">
                      <a:solidFill>
                        <a:srgbClr val="B03ADC"/>
                      </a:solidFill>
                      <a:prstDash val="solid"/>
                      <a:round/>
                      <a:headEnd type="none" w="med" len="med"/>
                      <a:tailEnd type="none" w="med" len="med"/>
                    </a:lnR>
                    <a:lnT w="12700" cap="flat" cmpd="sng" algn="ctr">
                      <a:solidFill>
                        <a:srgbClr val="B03ADC"/>
                      </a:solidFill>
                      <a:prstDash val="solid"/>
                      <a:round/>
                      <a:headEnd type="none" w="med" len="med"/>
                      <a:tailEnd type="none" w="med" len="med"/>
                    </a:lnT>
                    <a:lnB w="12700" cap="flat" cmpd="sng" algn="ctr">
                      <a:solidFill>
                        <a:srgbClr val="F043DC"/>
                      </a:solidFill>
                      <a:prstDash val="solid"/>
                      <a:round/>
                      <a:headEnd type="none" w="med" len="med"/>
                      <a:tailEnd type="none" w="med" len="med"/>
                    </a:lnB>
                    <a:solidFill>
                      <a:srgbClr val="FFFFFF"/>
                    </a:solidFill>
                  </a:tcPr>
                </a:tc>
                <a:extLst>
                  <a:ext uri="{0D108BD9-81ED-4DB2-BD59-A6C34878D82A}">
                    <a16:rowId xmlns:a16="http://schemas.microsoft.com/office/drawing/2014/main" val="3607852264"/>
                  </a:ext>
                </a:extLst>
              </a:tr>
              <a:tr h="768307">
                <a:tc>
                  <a:txBody>
                    <a:bodyPr/>
                    <a:lstStyle/>
                    <a:p>
                      <a:r>
                        <a:rPr lang="en-US"/>
                        <a:t>5</a:t>
                      </a:r>
                    </a:p>
                  </a:txBody>
                  <a:tcPr anchor="ctr">
                    <a:lnL w="12700" cap="flat" cmpd="sng" algn="ctr">
                      <a:solidFill>
                        <a:srgbClr val="F038DC"/>
                      </a:solidFill>
                      <a:prstDash val="solid"/>
                      <a:round/>
                      <a:headEnd type="none" w="med" len="med"/>
                      <a:tailEnd type="none" w="med" len="med"/>
                    </a:lnL>
                    <a:lnR w="12700" cap="flat" cmpd="sng" algn="ctr">
                      <a:solidFill>
                        <a:srgbClr val="F03FDC"/>
                      </a:solidFill>
                      <a:prstDash val="solid"/>
                      <a:round/>
                      <a:headEnd type="none" w="med" len="med"/>
                      <a:tailEnd type="none" w="med" len="med"/>
                    </a:lnR>
                    <a:lnT w="12700" cap="flat" cmpd="sng" algn="ctr">
                      <a:solidFill>
                        <a:srgbClr val="F038DC"/>
                      </a:solidFill>
                      <a:prstDash val="solid"/>
                      <a:round/>
                      <a:headEnd type="none" w="med" len="med"/>
                      <a:tailEnd type="none" w="med" len="med"/>
                    </a:lnT>
                    <a:lnB w="6350" cap="flat" cmpd="sng" algn="ctr">
                      <a:solidFill>
                        <a:srgbClr val="F038DC"/>
                      </a:solidFill>
                      <a:prstDash val="solid"/>
                      <a:round/>
                      <a:headEnd type="none" w="med" len="med"/>
                      <a:tailEnd type="none" w="med" len="med"/>
                    </a:lnB>
                    <a:solidFill>
                      <a:srgbClr val="FFFFFF"/>
                    </a:solidFill>
                  </a:tcPr>
                </a:tc>
                <a:tc>
                  <a:txBody>
                    <a:bodyPr/>
                    <a:lstStyle/>
                    <a:p>
                      <a:r>
                        <a:rPr lang="en-US" dirty="0"/>
                        <a:t>Reddy et al. (2020)</a:t>
                      </a:r>
                    </a:p>
                  </a:txBody>
                  <a:tcPr anchor="ctr">
                    <a:lnL w="12700" cap="flat" cmpd="sng" algn="ctr">
                      <a:solidFill>
                        <a:srgbClr val="F03FDC"/>
                      </a:solidFill>
                      <a:prstDash val="solid"/>
                      <a:round/>
                      <a:headEnd type="none" w="med" len="med"/>
                      <a:tailEnd type="none" w="med" len="med"/>
                    </a:lnL>
                    <a:lnR w="12700" cap="flat" cmpd="sng" algn="ctr">
                      <a:solidFill>
                        <a:srgbClr val="F043DC"/>
                      </a:solidFill>
                      <a:prstDash val="solid"/>
                      <a:round/>
                      <a:headEnd type="none" w="med" len="med"/>
                      <a:tailEnd type="none" w="med" len="med"/>
                    </a:lnR>
                    <a:lnT w="12700" cap="flat" cmpd="sng" algn="ctr">
                      <a:solidFill>
                        <a:srgbClr val="F03FDC"/>
                      </a:solidFill>
                      <a:prstDash val="solid"/>
                      <a:round/>
                      <a:headEnd type="none" w="med" len="med"/>
                      <a:tailEnd type="none" w="med" len="med"/>
                    </a:lnT>
                    <a:lnB w="6350" cap="flat" cmpd="sng" algn="ctr">
                      <a:solidFill>
                        <a:srgbClr val="F03FDC"/>
                      </a:solidFill>
                      <a:prstDash val="solid"/>
                      <a:round/>
                      <a:headEnd type="none" w="med" len="med"/>
                      <a:tailEnd type="none" w="med" len="med"/>
                    </a:lnB>
                    <a:solidFill>
                      <a:srgbClr val="FFFFFF"/>
                    </a:solidFill>
                  </a:tcPr>
                </a:tc>
                <a:tc>
                  <a:txBody>
                    <a:bodyPr/>
                    <a:lstStyle/>
                    <a:p>
                      <a:r>
                        <a:rPr lang="en-US" dirty="0"/>
                        <a:t>Experimented with </a:t>
                      </a:r>
                      <a:r>
                        <a:rPr lang="en-US" dirty="0" err="1"/>
                        <a:t>XGBoost</a:t>
                      </a:r>
                      <a:r>
                        <a:rPr lang="en-US" dirty="0"/>
                        <a:t> and Random Forest; achieved ~98% accuracy with </a:t>
                      </a:r>
                      <a:r>
                        <a:rPr lang="en-US" dirty="0" err="1"/>
                        <a:t>XGBoost</a:t>
                      </a:r>
                      <a:r>
                        <a:rPr lang="en-US" dirty="0"/>
                        <a:t> using oversampling. Limitation: required careful </a:t>
                      </a:r>
                      <a:r>
                        <a:rPr lang="en-US" dirty="0" err="1"/>
                        <a:t>hyperparameter</a:t>
                      </a:r>
                      <a:r>
                        <a:rPr lang="en-US" dirty="0"/>
                        <a:t> tuning</a:t>
                      </a:r>
                    </a:p>
                  </a:txBody>
                  <a:tcPr anchor="ctr">
                    <a:lnL w="12700" cap="flat" cmpd="sng" algn="ctr">
                      <a:solidFill>
                        <a:srgbClr val="F043DC"/>
                      </a:solidFill>
                      <a:prstDash val="solid"/>
                      <a:round/>
                      <a:headEnd type="none" w="med" len="med"/>
                      <a:tailEnd type="none" w="med" len="med"/>
                    </a:lnL>
                    <a:lnR w="12700" cap="flat" cmpd="sng" algn="ctr">
                      <a:solidFill>
                        <a:srgbClr val="F043DC"/>
                      </a:solidFill>
                      <a:prstDash val="solid"/>
                      <a:round/>
                      <a:headEnd type="none" w="med" len="med"/>
                      <a:tailEnd type="none" w="med" len="med"/>
                    </a:lnR>
                    <a:lnT w="12700" cap="flat" cmpd="sng" algn="ctr">
                      <a:solidFill>
                        <a:srgbClr val="F043DC"/>
                      </a:solidFill>
                      <a:prstDash val="solid"/>
                      <a:round/>
                      <a:headEnd type="none" w="med" len="med"/>
                      <a:tailEnd type="none" w="med" len="med"/>
                    </a:lnT>
                    <a:lnB w="6350" cap="flat" cmpd="sng" algn="ctr">
                      <a:solidFill>
                        <a:srgbClr val="F043DC"/>
                      </a:solidFill>
                      <a:prstDash val="solid"/>
                      <a:round/>
                      <a:headEnd type="none" w="med" len="med"/>
                      <a:tailEnd type="none" w="med" len="med"/>
                    </a:lnB>
                    <a:solidFill>
                      <a:srgbClr val="FFFFFF"/>
                    </a:solidFill>
                  </a:tcPr>
                </a:tc>
                <a:extLst>
                  <a:ext uri="{0D108BD9-81ED-4DB2-BD59-A6C34878D82A}">
                    <a16:rowId xmlns:a16="http://schemas.microsoft.com/office/drawing/2014/main" val="787155893"/>
                  </a:ext>
                </a:extLst>
              </a:tr>
            </a:tbl>
          </a:graphicData>
        </a:graphic>
      </p:graphicFrame>
    </p:spTree>
    <p:extLst>
      <p:ext uri="{BB962C8B-B14F-4D97-AF65-F5344CB8AC3E}">
        <p14:creationId xmlns:p14="http://schemas.microsoft.com/office/powerpoint/2010/main" val="2086042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2B95658-A9E0-90F0-A01A-FFBDD3E0582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DCAF8830-EBBD-B5FD-19DF-EE113D0A8EE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Existing Methods </a:t>
            </a:r>
          </a:p>
        </p:txBody>
      </p:sp>
      <p:sp>
        <p:nvSpPr>
          <p:cNvPr id="115" name="Google Shape;115;p17">
            <a:extLst>
              <a:ext uri="{FF2B5EF4-FFF2-40B4-BE49-F238E27FC236}">
                <a16:creationId xmlns:a16="http://schemas.microsoft.com/office/drawing/2014/main" id="{0AFE8802-9D66-5EE4-D526-7D27FC7F4324}"/>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8595386C-1AD6-83D7-E483-5BE843BE95FA}"/>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16E23A37-06DB-EE78-E505-AB1C63DAC3B7}"/>
              </a:ext>
            </a:extLst>
          </p:cNvPr>
          <p:cNvSpPr txBox="1">
            <a:spLocks/>
          </p:cNvSpPr>
          <p:nvPr/>
        </p:nvSpPr>
        <p:spPr>
          <a:xfrm>
            <a:off x="594032" y="888010"/>
            <a:ext cx="11125200" cy="52272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Logistic Regression : </a:t>
            </a:r>
            <a:r>
              <a:rPr lang="en-US" altLang="en-US" dirty="0">
                <a:solidFill>
                  <a:schemeClr val="tx1"/>
                </a:solidFill>
                <a:latin typeface="Arial" panose="020B0604020202020204" pitchFamily="34" charset="0"/>
              </a:rPr>
              <a:t>Works well for simple linear relationships and is easy to interpret, but it struggles to capture complex nonlinear patterns present in CKD datasets.</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Decision Trees : </a:t>
            </a:r>
            <a:r>
              <a:rPr lang="en-US" altLang="en-US" dirty="0">
                <a:solidFill>
                  <a:schemeClr val="tx1"/>
                </a:solidFill>
                <a:latin typeface="Arial" panose="020B0604020202020204" pitchFamily="34" charset="0"/>
              </a:rPr>
              <a:t>Simple and fast to train, but highly prone to overfitting, especially with small and imbalanced CKD datasets.</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Support Vector Machines (SVM):</a:t>
            </a:r>
            <a:r>
              <a:rPr lang="en-US" altLang="en-US" dirty="0">
                <a:solidFill>
                  <a:schemeClr val="tx1"/>
                </a:solidFill>
                <a:latin typeface="Arial" panose="020B0604020202020204" pitchFamily="34" charset="0"/>
              </a:rPr>
              <a:t>Provides high accuracy and performs well with high-dimensional medical data, but the training time is high and not suitable for very large datasets.</a:t>
            </a:r>
          </a:p>
          <a:p>
            <a:pPr marL="0" lvl="0" indent="0" eaLnBrk="0" fontAlgn="base" hangingPunct="0">
              <a:spcBef>
                <a:spcPct val="0"/>
              </a:spcBef>
              <a:spcAft>
                <a:spcPct val="0"/>
              </a:spcAft>
              <a:buClrTx/>
              <a:buSzTx/>
              <a:buFontTx/>
              <a:buChar char="•"/>
            </a:pPr>
            <a:r>
              <a:rPr lang="en-US" altLang="en-US" b="1" dirty="0">
                <a:solidFill>
                  <a:schemeClr val="tx1"/>
                </a:solidFill>
                <a:latin typeface="Arial" panose="020B0604020202020204" pitchFamily="34" charset="0"/>
              </a:rPr>
              <a:t>Random Forest </a:t>
            </a:r>
            <a:r>
              <a:rPr lang="en-US" altLang="en-US" dirty="0">
                <a:solidFill>
                  <a:schemeClr val="tx1"/>
                </a:solidFill>
                <a:latin typeface="Arial" panose="020B0604020202020204" pitchFamily="34" charset="0"/>
              </a:rPr>
              <a:t>: Offers better generalization and stability by combining multiple trees. Performs effectively for CKD prediction but may still be influenced by class imbalance without proper handling.</a:t>
            </a:r>
          </a:p>
        </p:txBody>
      </p:sp>
    </p:spTree>
    <p:extLst>
      <p:ext uri="{BB962C8B-B14F-4D97-AF65-F5344CB8AC3E}">
        <p14:creationId xmlns:p14="http://schemas.microsoft.com/office/powerpoint/2010/main" val="2083446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F81BD49-111E-3D72-AE52-BF82E4A16AB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C20F2F5-7004-B254-873F-63DAD72873D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Drawbacks of Existing Methods </a:t>
            </a:r>
          </a:p>
        </p:txBody>
      </p:sp>
      <p:sp>
        <p:nvSpPr>
          <p:cNvPr id="115" name="Google Shape;115;p17">
            <a:extLst>
              <a:ext uri="{FF2B5EF4-FFF2-40B4-BE49-F238E27FC236}">
                <a16:creationId xmlns:a16="http://schemas.microsoft.com/office/drawing/2014/main" id="{C4157AF8-2087-F877-7BB5-D7B4E5DF22F8}"/>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92E5AE85-8981-342F-EBBD-AE81FB08034A}"/>
              </a:ext>
            </a:extLst>
          </p:cNvPr>
          <p:cNvSpPr txBox="1">
            <a:spLocks/>
          </p:cNvSpPr>
          <p:nvPr/>
        </p:nvSpPr>
        <p:spPr>
          <a:xfrm>
            <a:off x="812800" y="2318657"/>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a:extLst>
              <a:ext uri="{FF2B5EF4-FFF2-40B4-BE49-F238E27FC236}">
                <a16:creationId xmlns:a16="http://schemas.microsoft.com/office/drawing/2014/main" id="{EC409D00-3E78-207F-B185-AC8636939975}"/>
              </a:ext>
            </a:extLst>
          </p:cNvPr>
          <p:cNvSpPr txBox="1">
            <a:spLocks/>
          </p:cNvSpPr>
          <p:nvPr/>
        </p:nvSpPr>
        <p:spPr>
          <a:xfrm>
            <a:off x="584200" y="1005880"/>
            <a:ext cx="11125200" cy="522724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0" lvl="0" indent="0" eaLnBrk="0" fontAlgn="base" hangingPunct="0">
              <a:spcBef>
                <a:spcPct val="0"/>
              </a:spcBef>
              <a:spcAft>
                <a:spcPct val="0"/>
              </a:spcAft>
              <a:buClrTx/>
              <a:buSzTx/>
              <a:buFontTx/>
              <a:buChar char="•"/>
            </a:pPr>
            <a:r>
              <a:rPr lang="en-US" altLang="en-US">
                <a:solidFill>
                  <a:schemeClr val="tx1"/>
                </a:solidFill>
                <a:latin typeface="Arial" panose="020B0604020202020204" pitchFamily="34" charset="0"/>
              </a:rPr>
              <a:t>Logistic Regression cannot handle non-linear relationships effectively.</a:t>
            </a:r>
          </a:p>
          <a:p>
            <a:pPr marL="0" lvl="0" indent="0" eaLnBrk="0" fontAlgn="base" hangingPunct="0">
              <a:spcBef>
                <a:spcPct val="0"/>
              </a:spcBef>
              <a:spcAft>
                <a:spcPct val="0"/>
              </a:spcAft>
              <a:buClrTx/>
              <a:buSzTx/>
              <a:buFontTx/>
              <a:buChar char="•"/>
            </a:pPr>
            <a:r>
              <a:rPr lang="en-US" altLang="en-US">
                <a:solidFill>
                  <a:schemeClr val="tx1"/>
                </a:solidFill>
                <a:latin typeface="Arial" panose="020B0604020202020204" pitchFamily="34" charset="0"/>
              </a:rPr>
              <a:t>Decision Trees tend to overfit and give unstable results.</a:t>
            </a:r>
          </a:p>
          <a:p>
            <a:pPr marL="0" lvl="0" indent="0" eaLnBrk="0" fontAlgn="base" hangingPunct="0">
              <a:spcBef>
                <a:spcPct val="0"/>
              </a:spcBef>
              <a:spcAft>
                <a:spcPct val="0"/>
              </a:spcAft>
              <a:buClrTx/>
              <a:buSzTx/>
              <a:buFontTx/>
              <a:buChar char="•"/>
            </a:pPr>
            <a:r>
              <a:rPr lang="en-US" altLang="en-US">
                <a:solidFill>
                  <a:schemeClr val="tx1"/>
                </a:solidFill>
                <a:latin typeface="Arial" panose="020B0604020202020204" pitchFamily="34" charset="0"/>
              </a:rPr>
              <a:t>SVM requires high computation and careful parameter tuning.</a:t>
            </a:r>
          </a:p>
          <a:p>
            <a:pPr marL="0" lvl="0" indent="0" eaLnBrk="0" fontAlgn="base" hangingPunct="0">
              <a:spcBef>
                <a:spcPct val="0"/>
              </a:spcBef>
              <a:spcAft>
                <a:spcPct val="0"/>
              </a:spcAft>
              <a:buClrTx/>
              <a:buSzTx/>
              <a:buFontTx/>
              <a:buChar char="•"/>
            </a:pPr>
            <a:r>
              <a:rPr lang="en-US" altLang="en-US">
                <a:solidFill>
                  <a:schemeClr val="tx1"/>
                </a:solidFill>
                <a:latin typeface="Arial" panose="020B0604020202020204" pitchFamily="34" charset="0"/>
              </a:rPr>
              <a:t>Random Forest performs better but still struggles with imbalanced datasets.</a:t>
            </a: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2623116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E9408-DC3A-2DF7-DEF2-DFF5F620B73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P</a:t>
            </a:r>
            <a:r>
              <a:rPr lang="en-IN" dirty="0">
                <a:latin typeface="Cambria" panose="02040503050406030204" pitchFamily="18" charset="0"/>
                <a:ea typeface="Cambria" panose="02040503050406030204" pitchFamily="18" charset="0"/>
              </a:rPr>
              <a:t>roposed Methods</a:t>
            </a:r>
          </a:p>
        </p:txBody>
      </p:sp>
      <p:sp>
        <p:nvSpPr>
          <p:cNvPr id="3" name="Text Placeholder 2">
            <a:extLst>
              <a:ext uri="{FF2B5EF4-FFF2-40B4-BE49-F238E27FC236}">
                <a16:creationId xmlns:a16="http://schemas.microsoft.com/office/drawing/2014/main" id="{B6FD2D36-2FC6-D90B-40D3-BB3E609E9FD9}"/>
              </a:ext>
            </a:extLst>
          </p:cNvPr>
          <p:cNvSpPr>
            <a:spLocks noGrp="1"/>
          </p:cNvSpPr>
          <p:nvPr>
            <p:ph type="body" idx="1"/>
          </p:nvPr>
        </p:nvSpPr>
        <p:spPr/>
        <p:txBody>
          <a:bodyPr/>
          <a:lstStyle/>
          <a:p>
            <a:r>
              <a:rPr lang="en-US" b="1" dirty="0">
                <a:latin typeface="Cambria" pitchFamily="18" charset="0"/>
                <a:ea typeface="Cambria" pitchFamily="18" charset="0"/>
              </a:rPr>
              <a:t>Algorithms Used:</a:t>
            </a:r>
            <a:r>
              <a:rPr lang="en-US" dirty="0">
                <a:latin typeface="Cambria" pitchFamily="18" charset="0"/>
                <a:ea typeface="Cambria" pitchFamily="18" charset="0"/>
              </a:rPr>
              <a:t> Random Forest, Logistic </a:t>
            </a:r>
            <a:r>
              <a:rPr lang="en-US" dirty="0" err="1">
                <a:latin typeface="Cambria" pitchFamily="18" charset="0"/>
                <a:ea typeface="Cambria" pitchFamily="18" charset="0"/>
              </a:rPr>
              <a:t>Regression,SVM</a:t>
            </a:r>
            <a:r>
              <a:rPr lang="en-US" dirty="0">
                <a:latin typeface="Cambria" pitchFamily="18" charset="0"/>
                <a:ea typeface="Cambria" pitchFamily="18" charset="0"/>
              </a:rPr>
              <a:t>(</a:t>
            </a:r>
            <a:r>
              <a:rPr lang="en-US" dirty="0" err="1">
                <a:latin typeface="Cambria" pitchFamily="18" charset="0"/>
                <a:ea typeface="Cambria" pitchFamily="18" charset="0"/>
              </a:rPr>
              <a:t>Suport</a:t>
            </a:r>
            <a:r>
              <a:rPr lang="en-US" dirty="0">
                <a:latin typeface="Cambria" pitchFamily="18" charset="0"/>
                <a:ea typeface="Cambria" pitchFamily="18" charset="0"/>
              </a:rPr>
              <a:t> Vector Machine).</a:t>
            </a:r>
          </a:p>
          <a:p>
            <a:r>
              <a:rPr lang="en-US" b="1" dirty="0">
                <a:latin typeface="Cambria" pitchFamily="18" charset="0"/>
                <a:ea typeface="Cambria" pitchFamily="18" charset="0"/>
              </a:rPr>
              <a:t>Data Preprocessing:</a:t>
            </a:r>
            <a:r>
              <a:rPr lang="en-US" dirty="0">
                <a:latin typeface="Cambria" pitchFamily="18" charset="0"/>
                <a:ea typeface="Cambria" pitchFamily="18" charset="0"/>
              </a:rPr>
              <a:t> Handling missing </a:t>
            </a:r>
            <a:r>
              <a:rPr lang="en-US" dirty="0" err="1">
                <a:latin typeface="Cambria" pitchFamily="18" charset="0"/>
                <a:ea typeface="Cambria" pitchFamily="18" charset="0"/>
              </a:rPr>
              <a:t>values,feature</a:t>
            </a:r>
            <a:r>
              <a:rPr lang="en-US" dirty="0">
                <a:latin typeface="Cambria" pitchFamily="18" charset="0"/>
                <a:ea typeface="Cambria" pitchFamily="18" charset="0"/>
              </a:rPr>
              <a:t> selection.</a:t>
            </a:r>
          </a:p>
          <a:p>
            <a:r>
              <a:rPr lang="en-US" b="1" dirty="0">
                <a:latin typeface="Cambria" pitchFamily="18" charset="0"/>
                <a:ea typeface="Cambria" pitchFamily="18" charset="0"/>
              </a:rPr>
              <a:t>Evaluation Metrics:</a:t>
            </a:r>
            <a:r>
              <a:rPr lang="en-US" dirty="0">
                <a:latin typeface="Cambria" pitchFamily="18" charset="0"/>
                <a:ea typeface="Cambria" pitchFamily="18" charset="0"/>
              </a:rPr>
              <a:t> Accuracy, Precision, Recall, F1-score, ROC-AUC.</a:t>
            </a:r>
          </a:p>
          <a:p>
            <a:endParaRPr lang="en-IN" dirty="0">
              <a:latin typeface="Cambria" pitchFamily="18" charset="0"/>
              <a:ea typeface="Cambria" pitchFamily="18" charset="0"/>
            </a:endParaRPr>
          </a:p>
        </p:txBody>
      </p:sp>
    </p:spTree>
    <p:extLst>
      <p:ext uri="{BB962C8B-B14F-4D97-AF65-F5344CB8AC3E}">
        <p14:creationId xmlns:p14="http://schemas.microsoft.com/office/powerpoint/2010/main" val="1868603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Feasibility Study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B1699C13-DF69-F0CD-B0B5-AAD40B31B357}"/>
              </a:ext>
            </a:extLst>
          </p:cNvPr>
          <p:cNvSpPr>
            <a:spLocks noChangeArrowheads="1"/>
          </p:cNvSpPr>
          <p:nvPr/>
        </p:nvSpPr>
        <p:spPr bwMode="auto">
          <a:xfrm>
            <a:off x="812800" y="1143722"/>
            <a:ext cx="1085745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Font typeface="Arial" pitchFamily="34" charset="0"/>
              <a:buChar char="•"/>
            </a:pPr>
            <a:r>
              <a:rPr lang="en-US" sz="2800" dirty="0">
                <a:latin typeface="Cambria" pitchFamily="18" charset="0"/>
                <a:ea typeface="Cambria" pitchFamily="18" charset="0"/>
              </a:rPr>
              <a:t>Works effectively with publicly available CKD datasets (e.g., UCI CKD </a:t>
            </a:r>
          </a:p>
          <a:p>
            <a:r>
              <a:rPr lang="en-US" sz="2800" dirty="0">
                <a:latin typeface="Cambria" pitchFamily="18" charset="0"/>
                <a:ea typeface="Cambria" pitchFamily="18" charset="0"/>
              </a:rPr>
              <a:t>	dataset).</a:t>
            </a:r>
          </a:p>
          <a:p>
            <a:pPr>
              <a:buFont typeface="Arial" pitchFamily="34" charset="0"/>
              <a:buChar char="•"/>
            </a:pPr>
            <a:r>
              <a:rPr lang="en-US" sz="2800" dirty="0">
                <a:latin typeface="Cambria" pitchFamily="18" charset="0"/>
                <a:ea typeface="Cambria" pitchFamily="18" charset="0"/>
              </a:rPr>
              <a:t>Can be deployed in real-time clinical decision support systems.</a:t>
            </a:r>
          </a:p>
          <a:p>
            <a:pPr>
              <a:buFont typeface="Arial" pitchFamily="34" charset="0"/>
              <a:buChar char="•"/>
            </a:pPr>
            <a:r>
              <a:rPr lang="en-US" sz="2800" dirty="0">
                <a:latin typeface="Cambria" pitchFamily="18" charset="0"/>
                <a:ea typeface="Cambria" pitchFamily="18" charset="0"/>
              </a:rPr>
              <a:t>Scalable for larger healthcare datasets.</a:t>
            </a:r>
          </a:p>
        </p:txBody>
      </p:sp>
    </p:spTree>
    <p:extLst>
      <p:ext uri="{BB962C8B-B14F-4D97-AF65-F5344CB8AC3E}">
        <p14:creationId xmlns:p14="http://schemas.microsoft.com/office/powerpoint/2010/main" val="1030816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2633030"/>
            <a:ext cx="10668000" cy="26882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3128A6D5-3E89-46FE-9EB7-47F41BC4A08A}"/>
              </a:ext>
            </a:extLst>
          </p:cNvPr>
          <p:cNvPicPr>
            <a:picLocks noChangeAspect="1"/>
          </p:cNvPicPr>
          <p:nvPr/>
        </p:nvPicPr>
        <p:blipFill>
          <a:blip r:embed="rId3"/>
          <a:stretch>
            <a:fillRect/>
          </a:stretch>
        </p:blipFill>
        <p:spPr>
          <a:xfrm>
            <a:off x="1240892" y="1633591"/>
            <a:ext cx="9972223" cy="3687707"/>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18319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sz="3200" dirty="0">
                <a:latin typeface="Times New Roman" panose="02020603050405020304" pitchFamily="18" charset="0"/>
                <a:cs typeface="Times New Roman" panose="02020603050405020304" pitchFamily="18" charset="0"/>
              </a:rPr>
              <a:t>System Design &amp; Architecture</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Rectangle 2"/>
          <p:cNvSpPr>
            <a:spLocks noGrp="1" noChangeArrowheads="1"/>
          </p:cNvSpPr>
          <p:nvPr>
            <p:ph type="body" idx="1"/>
          </p:nvPr>
        </p:nvSpPr>
        <p:spPr bwMode="auto">
          <a:xfrm>
            <a:off x="354330" y="1057129"/>
            <a:ext cx="11584940" cy="522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b="1" dirty="0">
                <a:latin typeface="Cambria" pitchFamily="18" charset="0"/>
                <a:ea typeface="Cambria" pitchFamily="18" charset="0"/>
              </a:rPr>
              <a:t>Interaction Flow (summary)</a:t>
            </a:r>
          </a:p>
          <a:p>
            <a:pPr marL="76200" indent="0">
              <a:buNone/>
            </a:pPr>
            <a:endParaRPr lang="en-IN" b="1" dirty="0">
              <a:latin typeface="Cambria" pitchFamily="18" charset="0"/>
              <a:ea typeface="Cambria" pitchFamily="18" charset="0"/>
            </a:endParaRPr>
          </a:p>
          <a:p>
            <a:pPr>
              <a:buNone/>
            </a:pPr>
            <a:r>
              <a:rPr lang="en-US" b="1" dirty="0">
                <a:latin typeface="Cambria" pitchFamily="18" charset="0"/>
                <a:ea typeface="Cambria" pitchFamily="18" charset="0"/>
              </a:rPr>
              <a:t>Input Dataset</a:t>
            </a:r>
            <a:endParaRPr lang="en-US" dirty="0">
              <a:latin typeface="Cambria" pitchFamily="18" charset="0"/>
              <a:ea typeface="Cambria" pitchFamily="18" charset="0"/>
            </a:endParaRPr>
          </a:p>
          <a:p>
            <a:pPr lvl="1"/>
            <a:r>
              <a:rPr lang="en-US" dirty="0">
                <a:latin typeface="Cambria" pitchFamily="18" charset="0"/>
                <a:ea typeface="Cambria" pitchFamily="18" charset="0"/>
              </a:rPr>
              <a:t>Collect CKD patient data (clinical parameters such as age, blood pressure, sugar, serum </a:t>
            </a:r>
            <a:r>
              <a:rPr lang="en-US" dirty="0" err="1">
                <a:latin typeface="Cambria" pitchFamily="18" charset="0"/>
                <a:ea typeface="Cambria" pitchFamily="18" charset="0"/>
              </a:rPr>
              <a:t>creatinine</a:t>
            </a:r>
            <a:r>
              <a:rPr lang="en-US" dirty="0">
                <a:latin typeface="Cambria" pitchFamily="18" charset="0"/>
                <a:ea typeface="Cambria" pitchFamily="18" charset="0"/>
              </a:rPr>
              <a:t>, etc.).</a:t>
            </a:r>
          </a:p>
          <a:p>
            <a:pPr>
              <a:buNone/>
            </a:pPr>
            <a:r>
              <a:rPr lang="en-US" b="1" dirty="0">
                <a:latin typeface="Cambria" pitchFamily="18" charset="0"/>
                <a:ea typeface="Cambria" pitchFamily="18" charset="0"/>
              </a:rPr>
              <a:t>Data Preprocessing</a:t>
            </a:r>
            <a:endParaRPr lang="en-US" dirty="0">
              <a:latin typeface="Cambria" pitchFamily="18" charset="0"/>
              <a:ea typeface="Cambria" pitchFamily="18" charset="0"/>
            </a:endParaRPr>
          </a:p>
          <a:p>
            <a:pPr lvl="1"/>
            <a:r>
              <a:rPr lang="en-US" dirty="0">
                <a:latin typeface="Cambria" pitchFamily="18" charset="0"/>
                <a:ea typeface="Cambria" pitchFamily="18" charset="0"/>
              </a:rPr>
              <a:t>Handle missing values.</a:t>
            </a:r>
          </a:p>
          <a:p>
            <a:pPr lvl="1"/>
            <a:r>
              <a:rPr lang="en-US" dirty="0">
                <a:latin typeface="Cambria" pitchFamily="18" charset="0"/>
                <a:ea typeface="Cambria" pitchFamily="18" charset="0"/>
              </a:rPr>
              <a:t>Perform data cleaning and encoding of categorical values.</a:t>
            </a:r>
          </a:p>
          <a:p>
            <a:pPr>
              <a:buNone/>
            </a:pPr>
            <a:r>
              <a:rPr lang="en-US" b="1" dirty="0">
                <a:latin typeface="Cambria" pitchFamily="18" charset="0"/>
                <a:ea typeface="Cambria" pitchFamily="18" charset="0"/>
              </a:rPr>
              <a:t>Feature Selection</a:t>
            </a:r>
            <a:endParaRPr lang="en-US" dirty="0">
              <a:latin typeface="Cambria" pitchFamily="18" charset="0"/>
              <a:ea typeface="Cambria" pitchFamily="18" charset="0"/>
            </a:endParaRPr>
          </a:p>
          <a:p>
            <a:pPr lvl="1"/>
            <a:r>
              <a:rPr lang="en-US" dirty="0">
                <a:latin typeface="Cambria" pitchFamily="18" charset="0"/>
                <a:ea typeface="Cambria" pitchFamily="18" charset="0"/>
              </a:rPr>
              <a:t>Apply </a:t>
            </a:r>
            <a:r>
              <a:rPr lang="en-US" b="1" dirty="0">
                <a:latin typeface="Cambria" pitchFamily="18" charset="0"/>
                <a:ea typeface="Cambria" pitchFamily="18" charset="0"/>
              </a:rPr>
              <a:t>Logistic Regression+ Random Forest</a:t>
            </a:r>
            <a:r>
              <a:rPr lang="en-US" dirty="0">
                <a:latin typeface="Cambria" pitchFamily="18" charset="0"/>
                <a:ea typeface="Cambria" pitchFamily="18" charset="0"/>
              </a:rPr>
              <a:t> to extract the most significant features.</a:t>
            </a:r>
          </a:p>
          <a:p>
            <a:pPr>
              <a:buNone/>
            </a:pPr>
            <a:r>
              <a:rPr lang="en-US" b="1" dirty="0">
                <a:latin typeface="Cambria" pitchFamily="18" charset="0"/>
                <a:ea typeface="Cambria" pitchFamily="18" charset="0"/>
              </a:rPr>
              <a:t>Train-Test Split</a:t>
            </a:r>
            <a:endParaRPr lang="en-US" dirty="0">
              <a:latin typeface="Cambria" pitchFamily="18" charset="0"/>
              <a:ea typeface="Cambria" pitchFamily="18" charset="0"/>
            </a:endParaRPr>
          </a:p>
          <a:p>
            <a:pPr lvl="1"/>
            <a:r>
              <a:rPr lang="en-US" dirty="0">
                <a:latin typeface="Cambria" pitchFamily="18" charset="0"/>
                <a:ea typeface="Cambria" pitchFamily="18" charset="0"/>
              </a:rPr>
              <a:t>Divide dataset into </a:t>
            </a:r>
            <a:r>
              <a:rPr lang="en-US" b="1" dirty="0">
                <a:latin typeface="Cambria" pitchFamily="18" charset="0"/>
                <a:ea typeface="Cambria" pitchFamily="18" charset="0"/>
              </a:rPr>
              <a:t>80% training</a:t>
            </a:r>
            <a:r>
              <a:rPr lang="en-US" dirty="0">
                <a:latin typeface="Cambria" pitchFamily="18" charset="0"/>
                <a:ea typeface="Cambria" pitchFamily="18" charset="0"/>
              </a:rPr>
              <a:t> and </a:t>
            </a:r>
            <a:r>
              <a:rPr lang="en-US" b="1" dirty="0">
                <a:latin typeface="Cambria" pitchFamily="18" charset="0"/>
                <a:ea typeface="Cambria" pitchFamily="18" charset="0"/>
              </a:rPr>
              <a:t>20% testing</a:t>
            </a:r>
            <a:r>
              <a:rPr lang="en-US" dirty="0">
                <a:latin typeface="Cambria" pitchFamily="18" charset="0"/>
                <a:ea typeface="Cambria" pitchFamily="18" charset="0"/>
              </a:rPr>
              <a:t> for evaluation.</a:t>
            </a:r>
          </a:p>
          <a:p>
            <a:pPr marL="76200" indent="0">
              <a:buNone/>
            </a:pPr>
            <a:endParaRPr lang="en-IN" b="1" dirty="0">
              <a:latin typeface="Cambria" pitchFamily="18" charset="0"/>
              <a:ea typeface="Cambria" pitchFamily="18" charset="0"/>
            </a:endParaRPr>
          </a:p>
        </p:txBody>
      </p:sp>
    </p:spTree>
    <p:extLst>
      <p:ext uri="{BB962C8B-B14F-4D97-AF65-F5344CB8AC3E}">
        <p14:creationId xmlns:p14="http://schemas.microsoft.com/office/powerpoint/2010/main" val="1705285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18319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sz="3200" dirty="0">
                <a:latin typeface="Times New Roman" panose="02020603050405020304" pitchFamily="18" charset="0"/>
                <a:cs typeface="Times New Roman" panose="02020603050405020304" pitchFamily="18" charset="0"/>
              </a:rPr>
              <a:t>System Design &amp; Architecture</a:t>
            </a:r>
            <a:endParaRPr lang="en-US" sz="32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Rectangle 2"/>
          <p:cNvSpPr>
            <a:spLocks noGrp="1" noChangeArrowheads="1"/>
          </p:cNvSpPr>
          <p:nvPr>
            <p:ph type="body" idx="1"/>
          </p:nvPr>
        </p:nvSpPr>
        <p:spPr bwMode="auto">
          <a:xfrm>
            <a:off x="354330" y="1307908"/>
            <a:ext cx="11584940" cy="424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sz="2000" b="1" dirty="0">
                <a:latin typeface="Cambria" pitchFamily="18" charset="0"/>
                <a:ea typeface="Cambria" pitchFamily="18" charset="0"/>
              </a:rPr>
              <a:t>Interaction Flow (summary)</a:t>
            </a:r>
          </a:p>
          <a:p>
            <a:endParaRPr lang="en-IN" sz="2000" b="1" dirty="0">
              <a:latin typeface="Cambria" pitchFamily="18" charset="0"/>
              <a:ea typeface="Cambria" pitchFamily="18" charset="0"/>
            </a:endParaRPr>
          </a:p>
          <a:p>
            <a:pPr>
              <a:buNone/>
            </a:pPr>
            <a:r>
              <a:rPr lang="en-US" sz="2000" b="1" dirty="0">
                <a:latin typeface="Cambria" pitchFamily="18" charset="0"/>
                <a:ea typeface="Cambria" pitchFamily="18" charset="0"/>
              </a:rPr>
              <a:t>Random Forest Model</a:t>
            </a:r>
            <a:endParaRPr lang="en-US" sz="2000" dirty="0">
              <a:latin typeface="Cambria" pitchFamily="18" charset="0"/>
              <a:ea typeface="Cambria" pitchFamily="18" charset="0"/>
            </a:endParaRPr>
          </a:p>
          <a:p>
            <a:pPr lvl="1"/>
            <a:r>
              <a:rPr lang="en-US" dirty="0">
                <a:latin typeface="Cambria" pitchFamily="18" charset="0"/>
                <a:ea typeface="Cambria" pitchFamily="18" charset="0"/>
              </a:rPr>
              <a:t>Train multiple decision trees.</a:t>
            </a:r>
          </a:p>
          <a:p>
            <a:pPr lvl="1"/>
            <a:r>
              <a:rPr lang="en-US" dirty="0">
                <a:latin typeface="Cambria" pitchFamily="18" charset="0"/>
                <a:ea typeface="Cambria" pitchFamily="18" charset="0"/>
              </a:rPr>
              <a:t>Apply majority voting for final classification.</a:t>
            </a:r>
          </a:p>
          <a:p>
            <a:pPr>
              <a:buNone/>
            </a:pPr>
            <a:r>
              <a:rPr lang="en-US" sz="2800" b="1" dirty="0">
                <a:latin typeface="Cambria" pitchFamily="18" charset="0"/>
                <a:ea typeface="Cambria" pitchFamily="18" charset="0"/>
              </a:rPr>
              <a:t>Evaluation</a:t>
            </a:r>
            <a:endParaRPr lang="en-US" sz="2800" dirty="0">
              <a:latin typeface="Cambria" pitchFamily="18" charset="0"/>
              <a:ea typeface="Cambria" pitchFamily="18" charset="0"/>
            </a:endParaRPr>
          </a:p>
          <a:p>
            <a:pPr lvl="1"/>
            <a:r>
              <a:rPr lang="en-US" dirty="0">
                <a:latin typeface="Cambria" pitchFamily="18" charset="0"/>
                <a:ea typeface="Cambria" pitchFamily="18" charset="0"/>
              </a:rPr>
              <a:t>Measure model performance using </a:t>
            </a:r>
            <a:r>
              <a:rPr lang="en-US" b="1" dirty="0">
                <a:latin typeface="Cambria" pitchFamily="18" charset="0"/>
                <a:ea typeface="Cambria" pitchFamily="18" charset="0"/>
              </a:rPr>
              <a:t>Accuracy, Recall, and AUC</a:t>
            </a:r>
            <a:r>
              <a:rPr lang="en-US" dirty="0">
                <a:latin typeface="Cambria" pitchFamily="18" charset="0"/>
                <a:ea typeface="Cambria" pitchFamily="18" charset="0"/>
              </a:rPr>
              <a:t> (Area Under ROC Curve).</a:t>
            </a:r>
          </a:p>
          <a:p>
            <a:pPr>
              <a:buNone/>
            </a:pPr>
            <a:r>
              <a:rPr lang="en-US" sz="2000" b="1" dirty="0">
                <a:latin typeface="Cambria" pitchFamily="18" charset="0"/>
                <a:ea typeface="Cambria" pitchFamily="18" charset="0"/>
              </a:rPr>
              <a:t>Final Prediction</a:t>
            </a:r>
            <a:endParaRPr lang="en-US" sz="2000" dirty="0">
              <a:latin typeface="Cambria" pitchFamily="18" charset="0"/>
              <a:ea typeface="Cambria" pitchFamily="18" charset="0"/>
            </a:endParaRPr>
          </a:p>
          <a:p>
            <a:r>
              <a:rPr lang="en-US" sz="2000" dirty="0">
                <a:latin typeface="Cambria" pitchFamily="18" charset="0"/>
                <a:ea typeface="Cambria" pitchFamily="18" charset="0"/>
              </a:rPr>
              <a:t>Output:</a:t>
            </a:r>
          </a:p>
          <a:p>
            <a:pPr lvl="1"/>
            <a:r>
              <a:rPr lang="en-US" b="1" dirty="0">
                <a:latin typeface="Cambria" pitchFamily="18" charset="0"/>
                <a:ea typeface="Cambria" pitchFamily="18" charset="0"/>
              </a:rPr>
              <a:t>CKD (1)</a:t>
            </a:r>
            <a:r>
              <a:rPr lang="en-US" dirty="0">
                <a:latin typeface="Cambria" pitchFamily="18" charset="0"/>
                <a:ea typeface="Cambria" pitchFamily="18" charset="0"/>
              </a:rPr>
              <a:t> → Patient is predicted to have Chronic Kidney Disease.</a:t>
            </a:r>
          </a:p>
          <a:p>
            <a:pPr lvl="1"/>
            <a:r>
              <a:rPr lang="en-US" b="1" dirty="0">
                <a:latin typeface="Cambria" pitchFamily="18" charset="0"/>
                <a:ea typeface="Cambria" pitchFamily="18" charset="0"/>
              </a:rPr>
              <a:t>Not CKD (0)</a:t>
            </a:r>
            <a:r>
              <a:rPr lang="en-US" dirty="0">
                <a:latin typeface="Cambria" pitchFamily="18" charset="0"/>
                <a:ea typeface="Cambria" pitchFamily="18" charset="0"/>
              </a:rPr>
              <a:t> → Patient is predicted to be healthy.</a:t>
            </a:r>
          </a:p>
        </p:txBody>
      </p:sp>
    </p:spTree>
    <p:extLst>
      <p:ext uri="{BB962C8B-B14F-4D97-AF65-F5344CB8AC3E}">
        <p14:creationId xmlns:p14="http://schemas.microsoft.com/office/powerpoint/2010/main" val="2106347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50177E5F-B5F6-8E85-6BC7-348C45DD318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F5669D19-D035-205F-9E7C-43509AF387EF}"/>
              </a:ext>
            </a:extLst>
          </p:cNvPr>
          <p:cNvSpPr txBox="1">
            <a:spLocks noGrp="1"/>
          </p:cNvSpPr>
          <p:nvPr>
            <p:ph type="title"/>
          </p:nvPr>
        </p:nvSpPr>
        <p:spPr>
          <a:xfrm>
            <a:off x="711200" y="330017"/>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 Description</a:t>
            </a:r>
          </a:p>
        </p:txBody>
      </p:sp>
      <p:sp>
        <p:nvSpPr>
          <p:cNvPr id="115" name="Google Shape;115;p17">
            <a:extLst>
              <a:ext uri="{FF2B5EF4-FFF2-40B4-BE49-F238E27FC236}">
                <a16:creationId xmlns:a16="http://schemas.microsoft.com/office/drawing/2014/main" id="{3CB29542-B004-7C20-176F-81BD5B2FF91C}"/>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307DE5F6-920D-B6F7-4046-3A60466699E4}"/>
              </a:ext>
            </a:extLst>
          </p:cNvPr>
          <p:cNvSpPr txBox="1">
            <a:spLocks/>
          </p:cNvSpPr>
          <p:nvPr/>
        </p:nvSpPr>
        <p:spPr>
          <a:xfrm>
            <a:off x="424762" y="330017"/>
            <a:ext cx="106680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itchFamily="18" charset="0"/>
              <a:ea typeface="Cambria" pitchFamily="18" charset="0"/>
            </a:endParaRPr>
          </a:p>
          <a:p>
            <a:pPr marL="342900" indent="-190500" algn="just">
              <a:spcBef>
                <a:spcPts val="0"/>
              </a:spcBef>
              <a:buSzPct val="100000"/>
              <a:buFont typeface="Arial"/>
              <a:buNone/>
            </a:pPr>
            <a:endParaRPr lang="en-US" dirty="0">
              <a:latin typeface="Cambria" pitchFamily="18" charset="0"/>
              <a:ea typeface="Cambria" pitchFamily="18" charset="0"/>
            </a:endParaRPr>
          </a:p>
          <a:p>
            <a:pPr>
              <a:buNone/>
            </a:pPr>
            <a:r>
              <a:rPr lang="en-US" b="1" dirty="0">
                <a:latin typeface="Cambria" pitchFamily="18" charset="0"/>
                <a:ea typeface="Cambria" pitchFamily="18" charset="0"/>
              </a:rPr>
              <a:t>Data Collection Module</a:t>
            </a:r>
            <a:endParaRPr lang="en-US" dirty="0">
              <a:latin typeface="Cambria" pitchFamily="18" charset="0"/>
              <a:ea typeface="Cambria" pitchFamily="18" charset="0"/>
            </a:endParaRPr>
          </a:p>
          <a:p>
            <a:pPr lvl="1"/>
            <a:r>
              <a:rPr lang="en-US" dirty="0">
                <a:latin typeface="Cambria" pitchFamily="18" charset="0"/>
                <a:ea typeface="Cambria" pitchFamily="18" charset="0"/>
              </a:rPr>
              <a:t>Collects CKD dataset (UCI CKD dataset or hospital records).</a:t>
            </a:r>
          </a:p>
          <a:p>
            <a:pPr>
              <a:buNone/>
            </a:pPr>
            <a:r>
              <a:rPr lang="en-US" b="1" dirty="0">
                <a:latin typeface="Cambria" pitchFamily="18" charset="0"/>
                <a:ea typeface="Cambria" pitchFamily="18" charset="0"/>
              </a:rPr>
              <a:t>Preprocessing Module</a:t>
            </a:r>
            <a:endParaRPr lang="en-US" dirty="0">
              <a:latin typeface="Cambria" pitchFamily="18" charset="0"/>
              <a:ea typeface="Cambria" pitchFamily="18" charset="0"/>
            </a:endParaRPr>
          </a:p>
          <a:p>
            <a:pPr lvl="1"/>
            <a:r>
              <a:rPr lang="en-US" dirty="0">
                <a:latin typeface="Cambria" pitchFamily="18" charset="0"/>
                <a:ea typeface="Cambria" pitchFamily="18" charset="0"/>
              </a:rPr>
              <a:t>Handles missing data, normalization, and outlier detection.</a:t>
            </a:r>
          </a:p>
          <a:p>
            <a:pPr>
              <a:buNone/>
            </a:pPr>
            <a:r>
              <a:rPr lang="en-US" b="1" dirty="0">
                <a:latin typeface="Cambria" pitchFamily="18" charset="0"/>
                <a:ea typeface="Cambria" pitchFamily="18" charset="0"/>
              </a:rPr>
              <a:t>Feature Selection Module</a:t>
            </a:r>
            <a:endParaRPr lang="en-US" dirty="0">
              <a:latin typeface="Cambria" pitchFamily="18" charset="0"/>
              <a:ea typeface="Cambria" pitchFamily="18" charset="0"/>
            </a:endParaRPr>
          </a:p>
          <a:p>
            <a:pPr lvl="1"/>
            <a:r>
              <a:rPr lang="en-US" dirty="0">
                <a:latin typeface="Cambria" pitchFamily="18" charset="0"/>
                <a:ea typeface="Cambria" pitchFamily="18" charset="0"/>
              </a:rPr>
              <a:t>Selects important attributes like age, BP, serum </a:t>
            </a:r>
            <a:r>
              <a:rPr lang="en-US" dirty="0" err="1">
                <a:latin typeface="Cambria" pitchFamily="18" charset="0"/>
                <a:ea typeface="Cambria" pitchFamily="18" charset="0"/>
              </a:rPr>
              <a:t>creatinine</a:t>
            </a:r>
            <a:r>
              <a:rPr lang="en-US" dirty="0">
                <a:latin typeface="Cambria" pitchFamily="18" charset="0"/>
                <a:ea typeface="Cambria" pitchFamily="18" charset="0"/>
              </a:rPr>
              <a:t>, blood glucose, etc.</a:t>
            </a:r>
          </a:p>
          <a:p>
            <a:pPr>
              <a:buNone/>
            </a:pPr>
            <a:r>
              <a:rPr lang="en-US" b="1" dirty="0">
                <a:latin typeface="Cambria" pitchFamily="18" charset="0"/>
                <a:ea typeface="Cambria" pitchFamily="18" charset="0"/>
              </a:rPr>
              <a:t>Class Balancing  Module</a:t>
            </a:r>
            <a:endParaRPr lang="en-US" dirty="0">
              <a:latin typeface="Cambria" pitchFamily="18" charset="0"/>
              <a:ea typeface="Cambria" pitchFamily="18" charset="0"/>
            </a:endParaRPr>
          </a:p>
          <a:p>
            <a:pPr lvl="1"/>
            <a:r>
              <a:rPr lang="en-IN" dirty="0">
                <a:latin typeface="Calibri" pitchFamily="34" charset="0"/>
                <a:cs typeface="Calibri" pitchFamily="34" charset="0"/>
              </a:rPr>
              <a:t>Solves the issue of class imbalance between CKD and non-CKD cases</a:t>
            </a:r>
          </a:p>
          <a:p>
            <a:pPr lvl="1">
              <a:buNone/>
            </a:pPr>
            <a:r>
              <a:rPr lang="en-IN" sz="2400" b="1" dirty="0">
                <a:latin typeface="Calibri" pitchFamily="34" charset="0"/>
                <a:cs typeface="Calibri" pitchFamily="34" charset="0"/>
              </a:rPr>
              <a:t>Model Training and Prediction Module</a:t>
            </a:r>
            <a:endParaRPr lang="en-US" dirty="0"/>
          </a:p>
          <a:p>
            <a:pPr lvl="1"/>
            <a:r>
              <a:rPr lang="en-IN" dirty="0">
                <a:latin typeface="Times New Roman" panose="02020603050405020304" pitchFamily="18" charset="0"/>
                <a:cs typeface="Times New Roman" panose="02020603050405020304" pitchFamily="18" charset="0"/>
              </a:rPr>
              <a:t>Algorithms used: Logistic Regression, Random Forest.</a:t>
            </a:r>
            <a:endParaRPr lang="en-US" dirty="0">
              <a:latin typeface="Times New Roman" panose="02020603050405020304" pitchFamily="18" charset="0"/>
              <a:cs typeface="Times New Roman" panose="02020603050405020304" pitchFamily="18" charset="0"/>
            </a:endParaRPr>
          </a:p>
          <a:p>
            <a:pPr lvl="1">
              <a:buNone/>
            </a:pPr>
            <a:endParaRPr lang="en-IN" sz="2400" dirty="0">
              <a:latin typeface="Calibri" pitchFamily="34" charset="0"/>
              <a:ea typeface="Cambria" pitchFamily="18" charset="0"/>
              <a:cs typeface="Calibri" pitchFamily="34" charset="0"/>
            </a:endParaRPr>
          </a:p>
          <a:p>
            <a:pPr marL="342900" indent="-190500" algn="just">
              <a:lnSpc>
                <a:spcPct val="200000"/>
              </a:lnSpc>
              <a:spcBef>
                <a:spcPts val="0"/>
              </a:spcBef>
              <a:buSzPct val="100000"/>
              <a:buNone/>
            </a:pPr>
            <a:endParaRPr lang="en-US" dirty="0">
              <a:latin typeface="Cambria" pitchFamily="18" charset="0"/>
              <a:ea typeface="Cambria" pitchFamily="18" charset="0"/>
            </a:endParaRPr>
          </a:p>
          <a:p>
            <a:pPr marL="342900" indent="-190500" algn="just">
              <a:lnSpc>
                <a:spcPct val="200000"/>
              </a:lnSpc>
              <a:spcBef>
                <a:spcPts val="0"/>
              </a:spcBef>
              <a:buSzPct val="100000"/>
              <a:buNone/>
            </a:pPr>
            <a:endParaRPr lang="en-US" dirty="0">
              <a:latin typeface="Cambria" pitchFamily="18" charset="0"/>
              <a:ea typeface="Cambria" pitchFamily="18" charset="0"/>
            </a:endParaRPr>
          </a:p>
          <a:p>
            <a:pPr lvl="1"/>
            <a:endParaRPr lang="en-IN" sz="2400" dirty="0">
              <a:latin typeface="Cambria" pitchFamily="18" charset="0"/>
              <a:ea typeface="Cambria" pitchFamily="18" charset="0"/>
            </a:endParaRPr>
          </a:p>
          <a:p>
            <a:pPr marL="342900" indent="-190500" algn="just">
              <a:lnSpc>
                <a:spcPct val="200000"/>
              </a:lnSpc>
              <a:spcBef>
                <a:spcPts val="0"/>
              </a:spcBef>
              <a:buSzPct val="100000"/>
              <a:buFont typeface="Arial"/>
              <a:buNone/>
            </a:pPr>
            <a:endParaRPr lang="en-US" dirty="0">
              <a:latin typeface="Cambria" pitchFamily="18" charset="0"/>
              <a:ea typeface="Cambria" pitchFamily="18" charset="0"/>
            </a:endParaRPr>
          </a:p>
        </p:txBody>
      </p:sp>
      <p:sp>
        <p:nvSpPr>
          <p:cNvPr id="5" name="Google Shape;115;p17">
            <a:extLst>
              <a:ext uri="{FF2B5EF4-FFF2-40B4-BE49-F238E27FC236}">
                <a16:creationId xmlns:a16="http://schemas.microsoft.com/office/drawing/2014/main" id="{488B8332-CE8D-C4C0-7AB4-AD80FC68FF32}"/>
              </a:ext>
            </a:extLst>
          </p:cNvPr>
          <p:cNvSpPr txBox="1">
            <a:spLocks/>
          </p:cNvSpPr>
          <p:nvPr/>
        </p:nvSpPr>
        <p:spPr>
          <a:xfrm>
            <a:off x="424762" y="360839"/>
            <a:ext cx="10668000" cy="433069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07722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5E1FAF7-BE48-5CED-4EA6-527819C08E10}"/>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458F431-436B-80E2-F09E-545A868DE842}"/>
              </a:ext>
            </a:extLst>
          </p:cNvPr>
          <p:cNvSpPr txBox="1">
            <a:spLocks noGrp="1"/>
          </p:cNvSpPr>
          <p:nvPr>
            <p:ph type="title"/>
          </p:nvPr>
        </p:nvSpPr>
        <p:spPr>
          <a:xfrm>
            <a:off x="711200" y="330017"/>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 Description</a:t>
            </a:r>
          </a:p>
        </p:txBody>
      </p:sp>
      <p:sp>
        <p:nvSpPr>
          <p:cNvPr id="115" name="Google Shape;115;p17">
            <a:extLst>
              <a:ext uri="{FF2B5EF4-FFF2-40B4-BE49-F238E27FC236}">
                <a16:creationId xmlns:a16="http://schemas.microsoft.com/office/drawing/2014/main" id="{42EE1055-B29C-F604-882B-1639CDFD6640}"/>
              </a:ext>
            </a:extLst>
          </p:cNvPr>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a:extLst>
              <a:ext uri="{FF2B5EF4-FFF2-40B4-BE49-F238E27FC236}">
                <a16:creationId xmlns:a16="http://schemas.microsoft.com/office/drawing/2014/main" id="{4B3889E2-024B-4B05-08E2-B089DBDC8D6C}"/>
              </a:ext>
            </a:extLst>
          </p:cNvPr>
          <p:cNvSpPr txBox="1">
            <a:spLocks/>
          </p:cNvSpPr>
          <p:nvPr/>
        </p:nvSpPr>
        <p:spPr>
          <a:xfrm>
            <a:off x="634082" y="251304"/>
            <a:ext cx="10668000" cy="4953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itchFamily="18" charset="0"/>
              <a:ea typeface="Cambria" pitchFamily="18" charset="0"/>
            </a:endParaRPr>
          </a:p>
          <a:p>
            <a:pPr marL="342900" indent="-190500" algn="just">
              <a:spcBef>
                <a:spcPts val="0"/>
              </a:spcBef>
              <a:buSzPct val="100000"/>
              <a:buFont typeface="Arial"/>
              <a:buNone/>
            </a:pPr>
            <a:endParaRPr lang="en-US" dirty="0">
              <a:latin typeface="Cambria" pitchFamily="18" charset="0"/>
              <a:ea typeface="Cambria" pitchFamily="18" charset="0"/>
            </a:endParaRPr>
          </a:p>
          <a:p>
            <a:pPr>
              <a:buNone/>
            </a:pPr>
            <a:r>
              <a:rPr lang="en-US" b="1" dirty="0">
                <a:latin typeface="Cambria" pitchFamily="18" charset="0"/>
                <a:ea typeface="Cambria" pitchFamily="18" charset="0"/>
              </a:rPr>
              <a:t>Prediction Module</a:t>
            </a:r>
            <a:endParaRPr lang="en-US" dirty="0">
              <a:latin typeface="Cambria" pitchFamily="18" charset="0"/>
              <a:ea typeface="Cambria" pitchFamily="18" charset="0"/>
            </a:endParaRPr>
          </a:p>
          <a:p>
            <a:pPr lvl="1"/>
            <a:r>
              <a:rPr lang="en-US" dirty="0">
                <a:latin typeface="Cambria" pitchFamily="18" charset="0"/>
                <a:ea typeface="Cambria" pitchFamily="18" charset="0"/>
              </a:rPr>
              <a:t>Predicts whether a patient is CKD-positive or not.</a:t>
            </a:r>
          </a:p>
          <a:p>
            <a:pPr>
              <a:buNone/>
            </a:pPr>
            <a:r>
              <a:rPr lang="en-US" b="1" dirty="0">
                <a:latin typeface="Cambria" pitchFamily="18" charset="0"/>
                <a:ea typeface="Cambria" pitchFamily="18" charset="0"/>
              </a:rPr>
              <a:t>Evaluation Module</a:t>
            </a:r>
            <a:endParaRPr lang="en-US" dirty="0">
              <a:latin typeface="Cambria" pitchFamily="18" charset="0"/>
              <a:ea typeface="Cambria" pitchFamily="18" charset="0"/>
            </a:endParaRPr>
          </a:p>
          <a:p>
            <a:pPr lvl="1"/>
            <a:r>
              <a:rPr lang="en-US" dirty="0">
                <a:latin typeface="Cambria" pitchFamily="18" charset="0"/>
                <a:ea typeface="Cambria" pitchFamily="18" charset="0"/>
              </a:rPr>
              <a:t>Compares models using accuracy, recall, and F1-score.</a:t>
            </a:r>
          </a:p>
          <a:p>
            <a:pPr>
              <a:buNone/>
            </a:pPr>
            <a:r>
              <a:rPr lang="en-US" b="1" dirty="0">
                <a:latin typeface="Cambria" pitchFamily="18" charset="0"/>
                <a:ea typeface="Cambria" pitchFamily="18" charset="0"/>
              </a:rPr>
              <a:t>Deployment Module (Optional)</a:t>
            </a:r>
            <a:endParaRPr lang="en-US" dirty="0">
              <a:latin typeface="Cambria" pitchFamily="18" charset="0"/>
              <a:ea typeface="Cambria" pitchFamily="18" charset="0"/>
            </a:endParaRPr>
          </a:p>
          <a:p>
            <a:pPr lvl="1"/>
            <a:r>
              <a:rPr lang="en-US" dirty="0">
                <a:latin typeface="Cambria" pitchFamily="18" charset="0"/>
                <a:ea typeface="Cambria" pitchFamily="18" charset="0"/>
              </a:rPr>
              <a:t>Provides a user interface (web/mobile) for real-time predictions.</a:t>
            </a:r>
          </a:p>
          <a:p>
            <a:pPr marL="342900" indent="-190500" algn="just">
              <a:lnSpc>
                <a:spcPct val="200000"/>
              </a:lnSpc>
              <a:spcBef>
                <a:spcPts val="0"/>
              </a:spcBef>
              <a:buSzPct val="100000"/>
              <a:buNone/>
            </a:pPr>
            <a:endParaRPr lang="en-US" dirty="0">
              <a:latin typeface="Cambria" pitchFamily="18" charset="0"/>
              <a:ea typeface="Cambria" pitchFamily="18" charset="0"/>
            </a:endParaRPr>
          </a:p>
          <a:p>
            <a:pPr marL="342900" indent="-190500" algn="just">
              <a:lnSpc>
                <a:spcPct val="200000"/>
              </a:lnSpc>
              <a:spcBef>
                <a:spcPts val="0"/>
              </a:spcBef>
              <a:buSzPct val="100000"/>
              <a:buNone/>
            </a:pPr>
            <a:endParaRPr lang="en-US" dirty="0">
              <a:latin typeface="Cambria" pitchFamily="18" charset="0"/>
              <a:ea typeface="Cambria" pitchFamily="18" charset="0"/>
            </a:endParaRPr>
          </a:p>
          <a:p>
            <a:pPr lvl="1"/>
            <a:endParaRPr lang="en-IN" sz="2400" dirty="0">
              <a:latin typeface="Cambria" pitchFamily="18" charset="0"/>
              <a:ea typeface="Cambria" pitchFamily="18" charset="0"/>
            </a:endParaRPr>
          </a:p>
          <a:p>
            <a:pPr marL="342900" indent="-190500" algn="just">
              <a:lnSpc>
                <a:spcPct val="200000"/>
              </a:lnSpc>
              <a:spcBef>
                <a:spcPts val="0"/>
              </a:spcBef>
              <a:buSzPct val="100000"/>
              <a:buFont typeface="Arial"/>
              <a:buNone/>
            </a:pPr>
            <a:endParaRPr lang="en-US" dirty="0">
              <a:latin typeface="Cambria" pitchFamily="18" charset="0"/>
              <a:ea typeface="Cambria" pitchFamily="18" charset="0"/>
            </a:endParaRPr>
          </a:p>
        </p:txBody>
      </p:sp>
    </p:spTree>
    <p:extLst>
      <p:ext uri="{BB962C8B-B14F-4D97-AF65-F5344CB8AC3E}">
        <p14:creationId xmlns:p14="http://schemas.microsoft.com/office/powerpoint/2010/main" val="3216127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Software Requirements</a:t>
            </a:r>
          </a:p>
        </p:txBody>
      </p:sp>
      <p:sp>
        <p:nvSpPr>
          <p:cNvPr id="115" name="Google Shape;115;p17"/>
          <p:cNvSpPr txBox="1">
            <a:spLocks noGrp="1"/>
          </p:cNvSpPr>
          <p:nvPr>
            <p:ph type="body" idx="1"/>
          </p:nvPr>
        </p:nvSpPr>
        <p:spPr>
          <a:xfrm>
            <a:off x="762000" y="1272615"/>
            <a:ext cx="10668000" cy="5153891"/>
          </a:xfrm>
          <a:prstGeom prst="rect">
            <a:avLst/>
          </a:prstGeom>
          <a:noFill/>
          <a:ln>
            <a:noFill/>
          </a:ln>
        </p:spPr>
        <p:txBody>
          <a:bodyPr spcFirstLastPara="1" wrap="square" lIns="91425" tIns="45700" rIns="91425" bIns="45700" anchor="t" anchorCtr="0">
            <a:normAutofit/>
          </a:bodyPr>
          <a:lstStyle/>
          <a:p>
            <a:r>
              <a:rPr lang="en-US" b="1" dirty="0">
                <a:latin typeface="Cambria" pitchFamily="18" charset="0"/>
                <a:ea typeface="Cambria" pitchFamily="18" charset="0"/>
              </a:rPr>
              <a:t>Programming Language:</a:t>
            </a:r>
            <a:r>
              <a:rPr lang="en-US" dirty="0">
                <a:latin typeface="Cambria" pitchFamily="18" charset="0"/>
                <a:ea typeface="Cambria" pitchFamily="18" charset="0"/>
              </a:rPr>
              <a:t> Python (3.x)</a:t>
            </a:r>
          </a:p>
          <a:p>
            <a:r>
              <a:rPr lang="en-US" b="1" dirty="0">
                <a:latin typeface="Cambria" pitchFamily="18" charset="0"/>
                <a:ea typeface="Cambria" pitchFamily="18" charset="0"/>
              </a:rPr>
              <a:t>Libraries:</a:t>
            </a:r>
            <a:r>
              <a:rPr lang="en-US" dirty="0">
                <a:latin typeface="Cambria" pitchFamily="18" charset="0"/>
                <a:ea typeface="Cambria" pitchFamily="18" charset="0"/>
              </a:rPr>
              <a:t> Pandas, NumPy, </a:t>
            </a:r>
            <a:r>
              <a:rPr lang="en-US" dirty="0" err="1">
                <a:latin typeface="Cambria" pitchFamily="18" charset="0"/>
                <a:ea typeface="Cambria" pitchFamily="18" charset="0"/>
              </a:rPr>
              <a:t>Scikit</a:t>
            </a:r>
            <a:r>
              <a:rPr lang="en-US" dirty="0">
                <a:latin typeface="Cambria" pitchFamily="18" charset="0"/>
                <a:ea typeface="Cambria" pitchFamily="18" charset="0"/>
              </a:rPr>
              <a:t>-learn, Matplotlib, Seaborn</a:t>
            </a:r>
          </a:p>
          <a:p>
            <a:r>
              <a:rPr lang="en-US" b="1" dirty="0">
                <a:latin typeface="Cambria" pitchFamily="18" charset="0"/>
                <a:ea typeface="Cambria" pitchFamily="18" charset="0"/>
              </a:rPr>
              <a:t>IDE/Tools:</a:t>
            </a:r>
            <a:r>
              <a:rPr lang="en-US" dirty="0">
                <a:latin typeface="Cambria" pitchFamily="18" charset="0"/>
                <a:ea typeface="Cambria" pitchFamily="18" charset="0"/>
              </a:rPr>
              <a:t>  Visual Studio</a:t>
            </a:r>
          </a:p>
          <a:p>
            <a:r>
              <a:rPr lang="en-US" b="1" dirty="0">
                <a:latin typeface="Cambria" pitchFamily="18" charset="0"/>
                <a:ea typeface="Cambria" pitchFamily="18" charset="0"/>
              </a:rPr>
              <a:t>Deployment:</a:t>
            </a:r>
            <a:r>
              <a:rPr lang="en-US" dirty="0">
                <a:latin typeface="Cambria" pitchFamily="18" charset="0"/>
                <a:ea typeface="Cambria" pitchFamily="18" charset="0"/>
              </a:rPr>
              <a:t> Flask</a:t>
            </a:r>
          </a:p>
          <a:p>
            <a:r>
              <a:rPr lang="en-US" b="1" dirty="0">
                <a:latin typeface="Cambria" pitchFamily="18" charset="0"/>
                <a:ea typeface="Cambria" pitchFamily="18" charset="0"/>
              </a:rPr>
              <a:t>OS:</a:t>
            </a:r>
            <a:r>
              <a:rPr lang="en-US" dirty="0">
                <a:latin typeface="Cambria" pitchFamily="18" charset="0"/>
                <a:ea typeface="Cambria" pitchFamily="18" charset="0"/>
              </a:rPr>
              <a:t> Windows</a:t>
            </a:r>
          </a:p>
          <a:p>
            <a:pPr marL="342900" lvl="0" indent="-190500" algn="just" rtl="0">
              <a:lnSpc>
                <a:spcPct val="200000"/>
              </a:lnSpc>
              <a:spcBef>
                <a:spcPts val="0"/>
              </a:spcBef>
              <a:spcAft>
                <a:spcPts val="0"/>
              </a:spcAft>
              <a:buClr>
                <a:schemeClr val="dk1"/>
              </a:buClr>
              <a:buSzPct val="100000"/>
              <a:buNone/>
            </a:pPr>
            <a:endParaRPr lang="en-US" dirty="0">
              <a:latin typeface="Cambria" pitchFamily="18" charset="0"/>
              <a:ea typeface="Cambria"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itchFamily="18" charset="0"/>
              <a:ea typeface="Cambria"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itchFamily="18" charset="0"/>
              <a:ea typeface="Cambria"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18319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sz="3200" dirty="0">
                <a:latin typeface="Times New Roman" panose="02020603050405020304" pitchFamily="18" charset="0"/>
                <a:ea typeface="Cambria" panose="02040503050406030204" pitchFamily="18" charset="0"/>
                <a:cs typeface="Times New Roman" panose="02020603050405020304" pitchFamily="18" charset="0"/>
              </a:rPr>
              <a:t>Algorithms</a:t>
            </a:r>
          </a:p>
        </p:txBody>
      </p:sp>
      <p:sp>
        <p:nvSpPr>
          <p:cNvPr id="5" name="Rectangle 2"/>
          <p:cNvSpPr>
            <a:spLocks noGrp="1" noChangeArrowheads="1"/>
          </p:cNvSpPr>
          <p:nvPr>
            <p:ph type="body" idx="1"/>
          </p:nvPr>
        </p:nvSpPr>
        <p:spPr bwMode="auto">
          <a:xfrm>
            <a:off x="212801" y="1530152"/>
            <a:ext cx="12071667" cy="232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Algorithms Used</a:t>
            </a:r>
          </a:p>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Random Forest: </a:t>
            </a:r>
            <a:r>
              <a:rPr lang="en-US" altLang="en-US" sz="2000" dirty="0">
                <a:solidFill>
                  <a:schemeClr val="tx1"/>
                </a:solidFill>
                <a:latin typeface="Times New Roman" panose="02020603050405020304" pitchFamily="18" charset="0"/>
                <a:cs typeface="Times New Roman" panose="02020603050405020304" pitchFamily="18" charset="0"/>
              </a:rPr>
              <a:t>High accuracy, reduces overfitting, shows feature importance.</a:t>
            </a:r>
          </a:p>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SVM: </a:t>
            </a:r>
            <a:r>
              <a:rPr lang="en-US" altLang="en-US" sz="2000" dirty="0">
                <a:solidFill>
                  <a:schemeClr val="tx1"/>
                </a:solidFill>
                <a:latin typeface="Times New Roman" panose="02020603050405020304" pitchFamily="18" charset="0"/>
                <a:cs typeface="Times New Roman" panose="02020603050405020304" pitchFamily="18" charset="0"/>
              </a:rPr>
              <a:t>Works well with small/high-dimensional medical data, finds optimal separating hyperplane.</a:t>
            </a:r>
          </a:p>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Logistic Regression: </a:t>
            </a:r>
            <a:r>
              <a:rPr lang="en-US" altLang="en-US" sz="2000" dirty="0">
                <a:solidFill>
                  <a:schemeClr val="tx1"/>
                </a:solidFill>
                <a:latin typeface="Times New Roman" panose="02020603050405020304" pitchFamily="18" charset="0"/>
                <a:cs typeface="Times New Roman" panose="02020603050405020304" pitchFamily="18" charset="0"/>
              </a:rPr>
              <a:t>Simple baseline model for binary CKD classification.</a:t>
            </a:r>
          </a:p>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Decision Tree: </a:t>
            </a:r>
            <a:r>
              <a:rPr lang="en-US" altLang="en-US" sz="2000" dirty="0">
                <a:solidFill>
                  <a:schemeClr val="tx1"/>
                </a:solidFill>
                <a:latin typeface="Times New Roman" panose="02020603050405020304" pitchFamily="18" charset="0"/>
                <a:cs typeface="Times New Roman" panose="02020603050405020304" pitchFamily="18" charset="0"/>
              </a:rPr>
              <a:t>Easy to interpret but may overfit.</a:t>
            </a:r>
          </a:p>
          <a:p>
            <a:pPr marL="76200" indent="0">
              <a:buNone/>
            </a:pPr>
            <a:r>
              <a:rPr lang="en-US" altLang="en-US" sz="2000" b="1" dirty="0">
                <a:solidFill>
                  <a:schemeClr val="tx1"/>
                </a:solidFill>
                <a:latin typeface="Times New Roman" panose="02020603050405020304" pitchFamily="18" charset="0"/>
                <a:cs typeface="Times New Roman" panose="02020603050405020304" pitchFamily="18" charset="0"/>
              </a:rPr>
              <a:t>Preprocessing Algorithms: </a:t>
            </a:r>
            <a:r>
              <a:rPr lang="en-US" altLang="en-US" sz="2000" dirty="0">
                <a:solidFill>
                  <a:schemeClr val="tx1"/>
                </a:solidFill>
                <a:latin typeface="Times New Roman" panose="02020603050405020304" pitchFamily="18" charset="0"/>
                <a:cs typeface="Times New Roman" panose="02020603050405020304" pitchFamily="18" charset="0"/>
              </a:rPr>
              <a:t>Missing value handling, encoding, scaling to clean data before training.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319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18319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sz="3200" dirty="0">
                <a:latin typeface="Times New Roman" panose="02020603050405020304" pitchFamily="18" charset="0"/>
                <a:ea typeface="Cambria" panose="02040503050406030204" pitchFamily="18" charset="0"/>
                <a:cs typeface="Times New Roman" panose="02020603050405020304" pitchFamily="18" charset="0"/>
              </a:rPr>
              <a:t>Algorithms</a:t>
            </a:r>
          </a:p>
        </p:txBody>
      </p:sp>
      <p:sp>
        <p:nvSpPr>
          <p:cNvPr id="5" name="Rectangle 2"/>
          <p:cNvSpPr>
            <a:spLocks noGrp="1" noChangeArrowheads="1"/>
          </p:cNvSpPr>
          <p:nvPr>
            <p:ph type="body" idx="1"/>
          </p:nvPr>
        </p:nvSpPr>
        <p:spPr bwMode="auto">
          <a:xfrm>
            <a:off x="110966" y="1005840"/>
            <a:ext cx="12071667" cy="5073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6200" indent="0">
              <a:buNone/>
            </a:pPr>
            <a:r>
              <a:rPr lang="en-IN" b="1" u="sng" dirty="0">
                <a:latin typeface="Times New Roman" panose="02020603050405020304" pitchFamily="18" charset="0"/>
                <a:cs typeface="Times New Roman" panose="02020603050405020304" pitchFamily="18" charset="0"/>
              </a:rPr>
              <a:t>2.</a:t>
            </a:r>
            <a:r>
              <a:rPr lang="en-IN" u="sng" dirty="0">
                <a:latin typeface="Times New Roman" panose="02020603050405020304" pitchFamily="18" charset="0"/>
                <a:cs typeface="Times New Roman" panose="02020603050405020304" pitchFamily="18" charset="0"/>
              </a:rPr>
              <a:t> </a:t>
            </a:r>
            <a:r>
              <a:rPr lang="en-IN" b="1" u="sng" dirty="0">
                <a:latin typeface="Calibri" pitchFamily="34" charset="0"/>
                <a:cs typeface="Calibri" pitchFamily="34" charset="0"/>
              </a:rPr>
              <a:t>Random Forest Classifie</a:t>
            </a:r>
            <a:r>
              <a:rPr lang="en-IN" b="1" u="sng" dirty="0"/>
              <a:t>r</a:t>
            </a:r>
            <a:endParaRPr lang="en-IN" b="1" u="sng" dirty="0">
              <a:latin typeface="Times New Roman" panose="02020603050405020304" pitchFamily="18" charset="0"/>
              <a:cs typeface="Times New Roman" panose="02020603050405020304" pitchFamily="18" charset="0"/>
            </a:endParaRPr>
          </a:p>
          <a:p>
            <a:pPr marL="76200" indent="0">
              <a:buNone/>
            </a:pPr>
            <a:r>
              <a:rPr lang="en-IN" sz="1800" b="1" dirty="0">
                <a:latin typeface="Times New Roman" panose="02020603050405020304" pitchFamily="18" charset="0"/>
                <a:cs typeface="Times New Roman" panose="02020603050405020304" pitchFamily="18" charset="0"/>
              </a:rPr>
              <a:t>Goal:</a:t>
            </a:r>
            <a:r>
              <a:rPr lang="en-IN" sz="1800" dirty="0">
                <a:latin typeface="Times New Roman" panose="02020603050405020304" pitchFamily="18" charset="0"/>
                <a:cs typeface="Times New Roman" panose="02020603050405020304" pitchFamily="18" charset="0"/>
              </a:rPr>
              <a:t> The core predictive model for classifying whether a patient has CKD or not.		</a:t>
            </a:r>
            <a:r>
              <a:rPr lang="en-US" sz="1800" dirty="0"/>
              <a:t> </a:t>
            </a:r>
            <a:r>
              <a:rPr lang="en-US" sz="1800" dirty="0" err="1"/>
              <a:t>Pseudocode</a:t>
            </a:r>
            <a:r>
              <a:rPr lang="en-US" sz="1800" dirty="0"/>
              <a:t>:</a:t>
            </a:r>
            <a:r>
              <a:rPr lang="en-IN" sz="1800" dirty="0">
                <a:latin typeface="Times New Roman" pitchFamily="18" charset="0"/>
                <a:cs typeface="Times New Roman" pitchFamily="18" charset="0"/>
              </a:rPr>
              <a:t> </a:t>
            </a:r>
            <a:endParaRPr lang="en-US" sz="1800" dirty="0">
              <a:latin typeface="Times New Roman" pitchFamily="18" charset="0"/>
              <a:cs typeface="Times New Roman" pitchFamily="18" charset="0"/>
            </a:endParaRPr>
          </a:p>
          <a:p>
            <a:pPr marL="76200" indent="0">
              <a:buNone/>
            </a:pPr>
            <a:endParaRPr lang="en-IN" sz="1800" dirty="0">
              <a:latin typeface="Times New Roman" panose="02020603050405020304" pitchFamily="18" charset="0"/>
              <a:cs typeface="Times New Roman" panose="02020603050405020304" pitchFamily="18" charset="0"/>
            </a:endParaRPr>
          </a:p>
          <a:p>
            <a:pPr marL="76200" indent="0">
              <a:buNone/>
            </a:pPr>
            <a:r>
              <a:rPr lang="en-US" sz="1800" b="1" dirty="0">
                <a:latin typeface="Times New Roman" panose="02020603050405020304" pitchFamily="18" charset="0"/>
                <a:cs typeface="Times New Roman" panose="02020603050405020304" pitchFamily="18" charset="0"/>
              </a:rPr>
              <a:t>Algorithm:</a:t>
            </a:r>
            <a:endParaRPr lang="en-US" sz="1800" dirty="0">
              <a:latin typeface="Times New Roman" pitchFamily="18" charset="0"/>
              <a:cs typeface="Times New Roman" pitchFamily="18" charset="0"/>
            </a:endParaRPr>
          </a:p>
          <a:p>
            <a:r>
              <a:rPr lang="en-US" sz="1800" dirty="0">
                <a:latin typeface="Times New Roman" pitchFamily="18" charset="0"/>
                <a:cs typeface="Times New Roman" pitchFamily="18" charset="0"/>
              </a:rPr>
              <a:t>Select n bootstrap samples from the training dataset.</a:t>
            </a:r>
          </a:p>
          <a:p>
            <a:r>
              <a:rPr lang="en-US" sz="1800" dirty="0">
                <a:latin typeface="Times New Roman" pitchFamily="18" charset="0"/>
                <a:cs typeface="Times New Roman" pitchFamily="18" charset="0"/>
              </a:rPr>
              <a:t>For each bootstrap sample: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a. Train a decision tree using the sample.</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b. At each split, select a random subset of features m (not all).</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c. Choose the best split from those features.</a:t>
            </a:r>
          </a:p>
          <a:p>
            <a:r>
              <a:rPr lang="en-US" sz="1800" dirty="0">
                <a:latin typeface="Times New Roman" pitchFamily="18" charset="0"/>
                <a:cs typeface="Times New Roman" pitchFamily="18" charset="0"/>
              </a:rPr>
              <a:t>Repeat steps until N decision trees are built.</a:t>
            </a:r>
          </a:p>
          <a:p>
            <a:r>
              <a:rPr lang="en-US" sz="1800" dirty="0">
                <a:latin typeface="Times New Roman" pitchFamily="18" charset="0"/>
                <a:cs typeface="Times New Roman" pitchFamily="18" charset="0"/>
              </a:rPr>
              <a:t>For prediction:</a:t>
            </a:r>
          </a:p>
          <a:p>
            <a:r>
              <a:rPr lang="en-US" sz="1800" dirty="0">
                <a:latin typeface="Times New Roman" pitchFamily="18" charset="0"/>
                <a:cs typeface="Times New Roman" pitchFamily="18" charset="0"/>
              </a:rPr>
              <a:t>Each tree gives a class vote.</a:t>
            </a:r>
          </a:p>
          <a:p>
            <a:r>
              <a:rPr lang="en-US" sz="1800" dirty="0">
                <a:latin typeface="Times New Roman" pitchFamily="18" charset="0"/>
                <a:cs typeface="Times New Roman" pitchFamily="18" charset="0"/>
              </a:rPr>
              <a:t>Final prediction = </a:t>
            </a:r>
            <a:r>
              <a:rPr lang="en-US" sz="1800" b="1" dirty="0">
                <a:latin typeface="Times New Roman" pitchFamily="18" charset="0"/>
                <a:cs typeface="Times New Roman" pitchFamily="18" charset="0"/>
              </a:rPr>
              <a:t>majority vote</a:t>
            </a:r>
            <a:r>
              <a:rPr lang="en-US" sz="1800" dirty="0">
                <a:latin typeface="Times New Roman" pitchFamily="18" charset="0"/>
                <a:cs typeface="Times New Roman" pitchFamily="18" charset="0"/>
              </a:rPr>
              <a:t> (classification) or </a:t>
            </a:r>
            <a:r>
              <a:rPr lang="en-US" sz="1800" b="1" dirty="0">
                <a:latin typeface="Times New Roman" pitchFamily="18" charset="0"/>
                <a:cs typeface="Times New Roman" pitchFamily="18" charset="0"/>
              </a:rPr>
              <a:t>average</a:t>
            </a:r>
            <a:r>
              <a:rPr lang="en-US" sz="1800" dirty="0">
                <a:latin typeface="Times New Roman" pitchFamily="18" charset="0"/>
                <a:cs typeface="Times New Roman" pitchFamily="18" charset="0"/>
              </a:rPr>
              <a:t> (regression).</a:t>
            </a:r>
            <a:endParaRPr lang="en-IN" sz="18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IN" sz="1800" b="1" dirty="0">
                <a:latin typeface="Times New Roman" panose="02020603050405020304" pitchFamily="18" charset="0"/>
                <a:cs typeface="Times New Roman" panose="02020603050405020304" pitchFamily="18" charset="0"/>
              </a:rPr>
              <a:t>Flowchart Concept:</a:t>
            </a:r>
            <a:br>
              <a:rPr lang="en-IN"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Preprocessed Input → Classifier / Pattern Matching → Intent with Confidence → Output Intent or Clarification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4" name="Picture 2" descr="C:\Users\Whynew.in\OneDrive\Desktop\1cc.JPG"/>
          <p:cNvPicPr>
            <a:picLocks noChangeAspect="1" noChangeArrowheads="1"/>
          </p:cNvPicPr>
          <p:nvPr/>
        </p:nvPicPr>
        <p:blipFill>
          <a:blip r:embed="rId3"/>
          <a:srcRect/>
          <a:stretch>
            <a:fillRect/>
          </a:stretch>
        </p:blipFill>
        <p:spPr bwMode="auto">
          <a:xfrm>
            <a:off x="7450724" y="2332122"/>
            <a:ext cx="4741276" cy="3520038"/>
          </a:xfrm>
          <a:prstGeom prst="rect">
            <a:avLst/>
          </a:prstGeom>
          <a:noFill/>
        </p:spPr>
      </p:pic>
    </p:spTree>
    <p:extLst>
      <p:ext uri="{BB962C8B-B14F-4D97-AF65-F5344CB8AC3E}">
        <p14:creationId xmlns:p14="http://schemas.microsoft.com/office/powerpoint/2010/main" val="18618164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4164" y="1478413"/>
            <a:ext cx="8893743" cy="3834733"/>
          </a:xfrm>
          <a:prstGeom prst="rect">
            <a:avLst/>
          </a:prstGeom>
          <a:noFill/>
          <a:ln>
            <a:noFill/>
          </a:ln>
        </p:spPr>
      </p:pic>
    </p:spTree>
    <p:extLst>
      <p:ext uri="{BB962C8B-B14F-4D97-AF65-F5344CB8AC3E}">
        <p14:creationId xmlns:p14="http://schemas.microsoft.com/office/powerpoint/2010/main" val="479890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62000" y="975159"/>
            <a:ext cx="10668000" cy="5153892"/>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libri" pitchFamily="34" charset="0"/>
              <a:ea typeface="Cambria" panose="02040503050406030204" pitchFamily="18" charset="0"/>
              <a:cs typeface="Calibri" pitchFamily="34" charset="0"/>
            </a:endParaRPr>
          </a:p>
          <a:p>
            <a:r>
              <a:rPr lang="en-IN" dirty="0">
                <a:latin typeface="Calibri" pitchFamily="34" charset="0"/>
                <a:cs typeface="Calibri" pitchFamily="34" charset="0"/>
              </a:rPr>
              <a:t>[1] A. Singh, P. Sharma, and R. Kumar, “Chronic Kidney Disease Prediction Using Random Forest Classifier,” </a:t>
            </a:r>
            <a:r>
              <a:rPr lang="en-IN" i="1" dirty="0" err="1">
                <a:latin typeface="Calibri" pitchFamily="34" charset="0"/>
                <a:cs typeface="Calibri" pitchFamily="34" charset="0"/>
              </a:rPr>
              <a:t>Procedia</a:t>
            </a:r>
            <a:r>
              <a:rPr lang="en-IN" i="1" dirty="0">
                <a:latin typeface="Calibri" pitchFamily="34" charset="0"/>
                <a:cs typeface="Calibri" pitchFamily="34" charset="0"/>
              </a:rPr>
              <a:t> Computer Science</a:t>
            </a:r>
            <a:r>
              <a:rPr lang="en-IN" dirty="0">
                <a:latin typeface="Calibri" pitchFamily="34" charset="0"/>
                <a:cs typeface="Calibri" pitchFamily="34" charset="0"/>
              </a:rPr>
              <a:t>, vol. 167, pp. 1980–1989, 2020. </a:t>
            </a:r>
            <a:r>
              <a:rPr lang="en-IN" dirty="0" err="1">
                <a:latin typeface="Calibri" pitchFamily="34" charset="0"/>
                <a:cs typeface="Calibri" pitchFamily="34" charset="0"/>
              </a:rPr>
              <a:t>doi</a:t>
            </a:r>
            <a:r>
              <a:rPr lang="en-IN" dirty="0">
                <a:latin typeface="Calibri" pitchFamily="34" charset="0"/>
                <a:cs typeface="Calibri" pitchFamily="34" charset="0"/>
              </a:rPr>
              <a:t>: 10.1016/j.procs.2020.03.228</a:t>
            </a:r>
            <a:endParaRPr lang="en-IN" sz="1600" dirty="0">
              <a:latin typeface="Calibri" pitchFamily="34" charset="0"/>
              <a:ea typeface="Cambria" panose="02040503050406030204" pitchFamily="18" charset="0"/>
              <a:cs typeface="Calibri" pitchFamily="34" charset="0"/>
            </a:endParaRPr>
          </a:p>
          <a:p>
            <a:endParaRPr lang="en-IN" sz="1600" dirty="0">
              <a:latin typeface="Calibri" pitchFamily="34" charset="0"/>
              <a:ea typeface="Cambria" panose="02040503050406030204" pitchFamily="18" charset="0"/>
              <a:cs typeface="Calibri" pitchFamily="34" charset="0"/>
            </a:endParaRPr>
          </a:p>
          <a:p>
            <a:r>
              <a:rPr lang="en-US" dirty="0">
                <a:latin typeface="Calibri" pitchFamily="34" charset="0"/>
                <a:cs typeface="Calibri" pitchFamily="34" charset="0"/>
              </a:rPr>
              <a:t>[2] G. </a:t>
            </a:r>
            <a:r>
              <a:rPr lang="en-US" dirty="0" err="1">
                <a:latin typeface="Calibri" pitchFamily="34" charset="0"/>
                <a:cs typeface="Calibri" pitchFamily="34" charset="0"/>
              </a:rPr>
              <a:t>Jha</a:t>
            </a:r>
            <a:r>
              <a:rPr lang="en-US" dirty="0">
                <a:latin typeface="Calibri" pitchFamily="34" charset="0"/>
                <a:cs typeface="Calibri" pitchFamily="34" charset="0"/>
              </a:rPr>
              <a:t>, R. </a:t>
            </a:r>
            <a:r>
              <a:rPr lang="en-US" dirty="0" err="1">
                <a:latin typeface="Calibri" pitchFamily="34" charset="0"/>
                <a:cs typeface="Calibri" pitchFamily="34" charset="0"/>
              </a:rPr>
              <a:t>Arora</a:t>
            </a:r>
            <a:r>
              <a:rPr lang="en-US" dirty="0">
                <a:latin typeface="Calibri" pitchFamily="34" charset="0"/>
                <a:cs typeface="Calibri" pitchFamily="34" charset="0"/>
              </a:rPr>
              <a:t>, and N. </a:t>
            </a:r>
            <a:r>
              <a:rPr lang="en-US" dirty="0" err="1">
                <a:latin typeface="Calibri" pitchFamily="34" charset="0"/>
                <a:cs typeface="Calibri" pitchFamily="34" charset="0"/>
              </a:rPr>
              <a:t>Sinha</a:t>
            </a:r>
            <a:r>
              <a:rPr lang="en-US" dirty="0">
                <a:latin typeface="Calibri" pitchFamily="34" charset="0"/>
                <a:cs typeface="Calibri" pitchFamily="34" charset="0"/>
              </a:rPr>
              <a:t>, “A Comparative Study of Machine Learning Models for CKD Prediction,” </a:t>
            </a:r>
            <a:r>
              <a:rPr lang="en-US" i="1" dirty="0">
                <a:latin typeface="Calibri" pitchFamily="34" charset="0"/>
                <a:cs typeface="Calibri" pitchFamily="34" charset="0"/>
              </a:rPr>
              <a:t>International Journal of Engineering Research &amp; Technology</a:t>
            </a:r>
            <a:r>
              <a:rPr lang="en-US" dirty="0">
                <a:latin typeface="Calibri" pitchFamily="34" charset="0"/>
                <a:cs typeface="Calibri" pitchFamily="34" charset="0"/>
              </a:rPr>
              <a:t>, vol. 9, no. 6, pp. 426–430, 2020.</a:t>
            </a:r>
          </a:p>
          <a:p>
            <a:endParaRPr lang="en-US" dirty="0">
              <a:latin typeface="Calibri" pitchFamily="34" charset="0"/>
              <a:cs typeface="Calibri" pitchFamily="34" charset="0"/>
            </a:endParaRPr>
          </a:p>
          <a:p>
            <a:r>
              <a:rPr lang="en-US" dirty="0">
                <a:latin typeface="Calibri" pitchFamily="34" charset="0"/>
                <a:cs typeface="Calibri" pitchFamily="34" charset="0"/>
              </a:rPr>
              <a:t>[3] S. Al </a:t>
            </a:r>
            <a:r>
              <a:rPr lang="en-US" dirty="0" err="1">
                <a:latin typeface="Calibri" pitchFamily="34" charset="0"/>
                <a:cs typeface="Calibri" pitchFamily="34" charset="0"/>
              </a:rPr>
              <a:t>Imran</a:t>
            </a:r>
            <a:r>
              <a:rPr lang="en-US" dirty="0">
                <a:latin typeface="Calibri" pitchFamily="34" charset="0"/>
                <a:cs typeface="Calibri" pitchFamily="34" charset="0"/>
              </a:rPr>
              <a:t> and M. </a:t>
            </a:r>
            <a:r>
              <a:rPr lang="en-US" dirty="0" err="1">
                <a:latin typeface="Calibri" pitchFamily="34" charset="0"/>
                <a:cs typeface="Calibri" pitchFamily="34" charset="0"/>
              </a:rPr>
              <a:t>Rahman</a:t>
            </a:r>
            <a:r>
              <a:rPr lang="en-US" dirty="0">
                <a:latin typeface="Calibri" pitchFamily="34" charset="0"/>
                <a:cs typeface="Calibri" pitchFamily="34" charset="0"/>
              </a:rPr>
              <a:t>, “Prediction of Chronic Kidney Disease Using Logistic Regression and Random Forest,” </a:t>
            </a:r>
            <a:r>
              <a:rPr lang="en-US" i="1" dirty="0">
                <a:latin typeface="Calibri" pitchFamily="34" charset="0"/>
                <a:cs typeface="Calibri" pitchFamily="34" charset="0"/>
              </a:rPr>
              <a:t>International Journal of Computer Applications</a:t>
            </a:r>
            <a:r>
              <a:rPr lang="en-US" dirty="0">
                <a:latin typeface="Calibri" pitchFamily="34" charset="0"/>
                <a:cs typeface="Calibri" pitchFamily="34" charset="0"/>
              </a:rPr>
              <a:t>, vol. 975, no. 8887, pp. 25–30, 2019.</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ADB6-81C7-36F7-9339-7F8A04868D53}"/>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a:extLst>
              <a:ext uri="{FF2B5EF4-FFF2-40B4-BE49-F238E27FC236}">
                <a16:creationId xmlns:a16="http://schemas.microsoft.com/office/drawing/2014/main" id="{B327127E-3F0F-D872-08CB-ABC15B058A0D}"/>
              </a:ext>
            </a:extLst>
          </p:cNvPr>
          <p:cNvSpPr>
            <a:spLocks noGrp="1"/>
          </p:cNvSpPr>
          <p:nvPr>
            <p:ph type="body" idx="1"/>
          </p:nvPr>
        </p:nvSpPr>
        <p:spPr>
          <a:xfrm>
            <a:off x="628072" y="1562948"/>
            <a:ext cx="11037455" cy="4573447"/>
          </a:xfrm>
        </p:spPr>
        <p:txBody>
          <a:bodyPr/>
          <a:lstStyle/>
          <a:p>
            <a:r>
              <a:rPr lang="en-US" dirty="0">
                <a:latin typeface="Calibri" pitchFamily="34" charset="0"/>
                <a:cs typeface="Calibri" pitchFamily="34" charset="0"/>
              </a:rPr>
              <a:t>[4] M. A. </a:t>
            </a:r>
            <a:r>
              <a:rPr lang="en-US" dirty="0" err="1">
                <a:latin typeface="Calibri" pitchFamily="34" charset="0"/>
                <a:cs typeface="Calibri" pitchFamily="34" charset="0"/>
              </a:rPr>
              <a:t>Wahab</a:t>
            </a:r>
            <a:r>
              <a:rPr lang="en-US" dirty="0">
                <a:latin typeface="Calibri" pitchFamily="34" charset="0"/>
                <a:cs typeface="Calibri" pitchFamily="34" charset="0"/>
              </a:rPr>
              <a:t>, F. Khalid, and S. A. </a:t>
            </a:r>
            <a:r>
              <a:rPr lang="en-US" dirty="0" err="1">
                <a:latin typeface="Calibri" pitchFamily="34" charset="0"/>
                <a:cs typeface="Calibri" pitchFamily="34" charset="0"/>
              </a:rPr>
              <a:t>Malik</a:t>
            </a:r>
            <a:r>
              <a:rPr lang="en-US" dirty="0">
                <a:latin typeface="Calibri" pitchFamily="34" charset="0"/>
                <a:cs typeface="Calibri" pitchFamily="34" charset="0"/>
              </a:rPr>
              <a:t>, “A Novel Hybrid Model for Chronic Kidney Disease Prediction,” </a:t>
            </a:r>
            <a:r>
              <a:rPr lang="en-US" i="1" dirty="0">
                <a:latin typeface="Calibri" pitchFamily="34" charset="0"/>
                <a:cs typeface="Calibri" pitchFamily="34" charset="0"/>
              </a:rPr>
              <a:t>IEEE Access</a:t>
            </a:r>
            <a:r>
              <a:rPr lang="en-US" dirty="0">
                <a:latin typeface="Calibri" pitchFamily="34" charset="0"/>
                <a:cs typeface="Calibri" pitchFamily="34" charset="0"/>
              </a:rPr>
              <a:t>, vol. 8, pp. 112594–112602, 2020. </a:t>
            </a:r>
            <a:r>
              <a:rPr lang="en-US" dirty="0" err="1">
                <a:latin typeface="Calibri" pitchFamily="34" charset="0"/>
                <a:cs typeface="Calibri" pitchFamily="34" charset="0"/>
              </a:rPr>
              <a:t>doi</a:t>
            </a:r>
            <a:r>
              <a:rPr lang="en-US" dirty="0">
                <a:latin typeface="Calibri" pitchFamily="34" charset="0"/>
                <a:cs typeface="Calibri" pitchFamily="34" charset="0"/>
              </a:rPr>
              <a:t>: 10.1109/ACCESS.2020.3003425</a:t>
            </a:r>
          </a:p>
          <a:p>
            <a:endParaRPr lang="en-US" dirty="0">
              <a:latin typeface="Calibri" pitchFamily="34" charset="0"/>
              <a:cs typeface="Calibri" pitchFamily="34" charset="0"/>
            </a:endParaRPr>
          </a:p>
          <a:p>
            <a:r>
              <a:rPr lang="en-US" dirty="0">
                <a:latin typeface="Calibri" pitchFamily="34" charset="0"/>
                <a:cs typeface="Calibri" pitchFamily="34" charset="0"/>
              </a:rPr>
              <a:t>[5] R. M. </a:t>
            </a:r>
            <a:r>
              <a:rPr lang="en-US" dirty="0" err="1">
                <a:latin typeface="Calibri" pitchFamily="34" charset="0"/>
                <a:cs typeface="Calibri" pitchFamily="34" charset="0"/>
              </a:rPr>
              <a:t>Elbattah</a:t>
            </a:r>
            <a:r>
              <a:rPr lang="en-US" dirty="0">
                <a:latin typeface="Calibri" pitchFamily="34" charset="0"/>
                <a:cs typeface="Calibri" pitchFamily="34" charset="0"/>
              </a:rPr>
              <a:t> and A. </a:t>
            </a:r>
            <a:r>
              <a:rPr lang="en-US" dirty="0" err="1">
                <a:latin typeface="Calibri" pitchFamily="34" charset="0"/>
                <a:cs typeface="Calibri" pitchFamily="34" charset="0"/>
              </a:rPr>
              <a:t>Soliman</a:t>
            </a:r>
            <a:r>
              <a:rPr lang="en-US" dirty="0">
                <a:latin typeface="Calibri" pitchFamily="34" charset="0"/>
                <a:cs typeface="Calibri" pitchFamily="34" charset="0"/>
              </a:rPr>
              <a:t>, “A Data-Driven Approach for Chronic Kidney Disease Detection,” </a:t>
            </a:r>
            <a:r>
              <a:rPr lang="en-US" i="1" dirty="0">
                <a:latin typeface="Calibri" pitchFamily="34" charset="0"/>
                <a:cs typeface="Calibri" pitchFamily="34" charset="0"/>
              </a:rPr>
              <a:t>International Conference on Health Informatics</a:t>
            </a:r>
            <a:r>
              <a:rPr lang="en-US" dirty="0">
                <a:latin typeface="Calibri" pitchFamily="34" charset="0"/>
                <a:cs typeface="Calibri" pitchFamily="34" charset="0"/>
              </a:rPr>
              <a:t>, Springer, pp. 45–56, 2019.</a:t>
            </a:r>
          </a:p>
          <a:p>
            <a:endParaRPr lang="en-US" dirty="0">
              <a:latin typeface="Calibri" pitchFamily="34" charset="0"/>
              <a:cs typeface="Calibri" pitchFamily="34" charset="0"/>
            </a:endParaRPr>
          </a:p>
          <a:p>
            <a:r>
              <a:rPr lang="en-US" dirty="0">
                <a:latin typeface="Calibri" pitchFamily="34" charset="0"/>
                <a:cs typeface="Calibri" pitchFamily="34" charset="0"/>
              </a:rPr>
              <a:t>[6] R. </a:t>
            </a:r>
            <a:r>
              <a:rPr lang="en-US" dirty="0" err="1">
                <a:latin typeface="Calibri" pitchFamily="34" charset="0"/>
                <a:cs typeface="Calibri" pitchFamily="34" charset="0"/>
              </a:rPr>
              <a:t>Tummalapalli</a:t>
            </a:r>
            <a:r>
              <a:rPr lang="en-US" dirty="0">
                <a:latin typeface="Calibri" pitchFamily="34" charset="0"/>
                <a:cs typeface="Calibri" pitchFamily="34" charset="0"/>
              </a:rPr>
              <a:t>, S. Johnson, and A. </a:t>
            </a:r>
            <a:r>
              <a:rPr lang="en-US" dirty="0" err="1">
                <a:latin typeface="Calibri" pitchFamily="34" charset="0"/>
                <a:cs typeface="Calibri" pitchFamily="34" charset="0"/>
              </a:rPr>
              <a:t>Misra</a:t>
            </a:r>
            <a:r>
              <a:rPr lang="en-US" dirty="0">
                <a:latin typeface="Calibri" pitchFamily="34" charset="0"/>
                <a:cs typeface="Calibri" pitchFamily="34" charset="0"/>
              </a:rPr>
              <a:t>, “Chronic Kidney Disease Prediction Using Machine Learning Algorithms,” </a:t>
            </a:r>
            <a:r>
              <a:rPr lang="en-US" i="1" dirty="0">
                <a:latin typeface="Calibri" pitchFamily="34" charset="0"/>
                <a:cs typeface="Calibri" pitchFamily="34" charset="0"/>
              </a:rPr>
              <a:t>BMC Nephrology</a:t>
            </a:r>
            <a:r>
              <a:rPr lang="en-US" dirty="0">
                <a:latin typeface="Calibri" pitchFamily="34" charset="0"/>
                <a:cs typeface="Calibri" pitchFamily="34" charset="0"/>
              </a:rPr>
              <a:t>, vol. 21, no. 1, pp. 1–12, 2020. </a:t>
            </a:r>
            <a:r>
              <a:rPr lang="en-US" dirty="0" err="1">
                <a:latin typeface="Calibri" pitchFamily="34" charset="0"/>
                <a:cs typeface="Calibri" pitchFamily="34" charset="0"/>
              </a:rPr>
              <a:t>doi</a:t>
            </a:r>
            <a:r>
              <a:rPr lang="en-US" dirty="0">
                <a:latin typeface="Calibri" pitchFamily="34" charset="0"/>
                <a:cs typeface="Calibri" pitchFamily="34" charset="0"/>
              </a:rPr>
              <a:t>: 10.1186/s12882-020-02059-6</a:t>
            </a:r>
          </a:p>
        </p:txBody>
      </p:sp>
    </p:spTree>
    <p:extLst>
      <p:ext uri="{BB962C8B-B14F-4D97-AF65-F5344CB8AC3E}">
        <p14:creationId xmlns:p14="http://schemas.microsoft.com/office/powerpoint/2010/main" val="2492729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691</TotalTime>
  <Words>1870</Words>
  <Application>Microsoft Office PowerPoint</Application>
  <PresentationFormat>Widescreen</PresentationFormat>
  <Paragraphs>232</Paragraphs>
  <Slides>23</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Bookman Old Style</vt:lpstr>
      <vt:lpstr>Calibri</vt:lpstr>
      <vt:lpstr>Cambria</vt:lpstr>
      <vt:lpstr>Times New Roman</vt:lpstr>
      <vt:lpstr>Verdana</vt:lpstr>
      <vt:lpstr>Wingdings</vt:lpstr>
      <vt:lpstr>Bioinformatics</vt:lpstr>
      <vt:lpstr>A PREDICTIVE ANALYTICS APPROACH FOR CHRONIC KIDNEY DISEASE  DETECTION USING MACHINE LEARNING  </vt:lpstr>
      <vt:lpstr>Content</vt:lpstr>
      <vt:lpstr>Problem Statement Number:PSCS_399 </vt:lpstr>
      <vt:lpstr>Abstract</vt:lpstr>
      <vt:lpstr> Objective</vt:lpstr>
      <vt:lpstr>Literature Survey</vt:lpstr>
      <vt:lpstr>Literature Survey Table</vt:lpstr>
      <vt:lpstr>Existing Methods </vt:lpstr>
      <vt:lpstr>Drawbacks of Existing Methods </vt:lpstr>
      <vt:lpstr>Proposed Methods</vt:lpstr>
      <vt:lpstr>Feasibility Study</vt:lpstr>
      <vt:lpstr>Architecture Diagram</vt:lpstr>
      <vt:lpstr>System Design &amp; Architecture</vt:lpstr>
      <vt:lpstr>System Design &amp; Architecture</vt:lpstr>
      <vt:lpstr>Module Description</vt:lpstr>
      <vt:lpstr>Module Description</vt:lpstr>
      <vt:lpstr>Software Requirements</vt:lpstr>
      <vt:lpstr>Algorithms</vt:lpstr>
      <vt:lpstr>Algorithms</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 k</cp:lastModifiedBy>
  <cp:revision>61</cp:revision>
  <dcterms:modified xsi:type="dcterms:W3CDTF">2025-12-04T09:53:00Z</dcterms:modified>
</cp:coreProperties>
</file>